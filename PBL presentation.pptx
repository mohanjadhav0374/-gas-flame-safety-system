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5" r:id="rId3"/>
  </p:sldMasterIdLst>
  <p:notesMasterIdLst>
    <p:notesMasterId r:id="rId5"/>
  </p:notesMasterIdLst>
  <p:sldIdLst>
    <p:sldId id="269" r:id="rId4"/>
    <p:sldId id="257" r:id="rId6"/>
    <p:sldId id="274" r:id="rId7"/>
    <p:sldId id="275" r:id="rId8"/>
    <p:sldId id="276" r:id="rId9"/>
    <p:sldId id="277" r:id="rId10"/>
    <p:sldId id="267" r:id="rId11"/>
    <p:sldId id="270" r:id="rId12"/>
    <p:sldId id="271" r:id="rId13"/>
    <p:sldId id="272" r:id="rId14"/>
    <p:sldId id="27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599" autoAdjust="0"/>
    <p:restoredTop sz="94660"/>
  </p:normalViewPr>
  <p:slideViewPr>
    <p:cSldViewPr snapToGrid="0">
      <p:cViewPr varScale="1">
        <p:scale>
          <a:sx n="78" d="100"/>
          <a:sy n="78" d="100"/>
        </p:scale>
        <p:origin x="10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41D0B9-42FB-4531-A646-3F23B12F1A09}"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C3552-3222-49DF-AC7A-D1AFC180F5FE}"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Footer Placeholder 3"/>
          <p:cNvSpPr>
            <a:spLocks noGrp="1"/>
          </p:cNvSpPr>
          <p:nvPr>
            <p:ph type="ftr" sz="quarter" idx="10"/>
          </p:nvPr>
        </p:nvSpPr>
        <p:spPr/>
        <p:txBody>
          <a:bodyPr/>
          <a:lstStyle/>
          <a:p>
            <a:r>
              <a:rPr lang="en-US"/>
              <a:t>D Y Patil College of Engineering, Akurdi</a:t>
            </a:r>
            <a:endParaRPr lang="en-US"/>
          </a:p>
        </p:txBody>
      </p:sp>
      <p:sp>
        <p:nvSpPr>
          <p:cNvPr id="5" name="Slide Number Placeholder 4"/>
          <p:cNvSpPr>
            <a:spLocks noGrp="1"/>
          </p:cNvSpPr>
          <p:nvPr>
            <p:ph type="sldNum" sz="quarter" idx="11"/>
          </p:nvPr>
        </p:nvSpPr>
        <p:spPr/>
        <p:txBody>
          <a:bodyPr/>
          <a:lstStyle/>
          <a:p>
            <a:fld id="{C6131758-A1AE-4453-9A86-66043DCBCC56}"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CB3BFA2-4E99-4BD3-B898-95E34B2E5E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6248ED37-31B2-400A-A1CA-050D7AA9FC42}"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9CB3BFA2-4E99-4BD3-B898-95E34B2E5E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9CB3BFA2-4E99-4BD3-B898-95E34B2E5E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248ED37-31B2-400A-A1CA-050D7AA9FC42}"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9CB3BFA2-4E99-4BD3-B898-95E34B2E5E4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6248ED37-31B2-400A-A1CA-050D7AA9FC42}"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9CB3BFA2-4E99-4BD3-B898-95E34B2E5E42}"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6248ED37-31B2-400A-A1CA-050D7AA9FC42}"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CB3BFA2-4E99-4BD3-B898-95E34B2E5E42}"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B3BFA2-4E99-4BD3-B898-95E34B2E5E42}"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9CB3BFA2-4E99-4BD3-B898-95E34B2E5E4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9CB3BFA2-4E99-4BD3-B898-95E34B2E5E4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248ED37-31B2-400A-A1CA-050D7AA9FC42}"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9CB3BFA2-4E99-4BD3-B898-95E34B2E5E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248ED37-31B2-400A-A1CA-050D7AA9FC42}"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endParaRPr lang="en-US"/>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9CB3BFA2-4E99-4BD3-B898-95E34B2E5E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248ED37-31B2-400A-A1CA-050D7AA9FC42}" type="slidenum">
              <a:rPr lang="en-US" smtClean="0"/>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endParaRPr lang="en-US"/>
          </a:p>
        </p:txBody>
      </p:sp>
      <p:sp>
        <p:nvSpPr>
          <p:cNvPr id="5" name="Date Placeholder 4"/>
          <p:cNvSpPr>
            <a:spLocks noGrp="1"/>
          </p:cNvSpPr>
          <p:nvPr>
            <p:ph type="dt" sz="half" idx="10"/>
          </p:nvPr>
        </p:nvSpPr>
        <p:spPr/>
        <p:txBody>
          <a:bodyPr/>
          <a:lstStyle/>
          <a:p>
            <a:fld id="{9CB3BFA2-4E99-4BD3-B898-95E34B2E5E4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248ED37-31B2-400A-A1CA-050D7AA9FC42}"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endParaRPr lang="en-US"/>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endParaRPr lang="en-US"/>
          </a:p>
        </p:txBody>
      </p:sp>
      <p:sp>
        <p:nvSpPr>
          <p:cNvPr id="5" name="Date Placeholder 4"/>
          <p:cNvSpPr>
            <a:spLocks noGrp="1"/>
          </p:cNvSpPr>
          <p:nvPr>
            <p:ph type="dt" sz="half" idx="10"/>
          </p:nvPr>
        </p:nvSpPr>
        <p:spPr/>
        <p:txBody>
          <a:bodyPr/>
          <a:lstStyle/>
          <a:p>
            <a:fld id="{9CB3BFA2-4E99-4BD3-B898-95E34B2E5E4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248ED37-31B2-400A-A1CA-050D7AA9FC42}" type="slidenum">
              <a:rPr lang="en-US" smtClean="0"/>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endParaRPr lang="en-US"/>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endParaRPr lang="en-US"/>
          </a:p>
        </p:txBody>
      </p:sp>
      <p:sp>
        <p:nvSpPr>
          <p:cNvPr id="5" name="Date Placeholder 4"/>
          <p:cNvSpPr>
            <a:spLocks noGrp="1"/>
          </p:cNvSpPr>
          <p:nvPr>
            <p:ph type="dt" sz="half" idx="10"/>
          </p:nvPr>
        </p:nvSpPr>
        <p:spPr/>
        <p:txBody>
          <a:bodyPr/>
          <a:lstStyle/>
          <a:p>
            <a:fld id="{9CB3BFA2-4E99-4BD3-B898-95E34B2E5E4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248ED37-31B2-400A-A1CA-050D7AA9FC42}"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9CB3BFA2-4E99-4BD3-B898-95E34B2E5E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9CB3BFA2-4E99-4BD3-B898-95E34B2E5E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CB3BFA2-4E99-4BD3-B898-95E34B2E5E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9CB3BFA2-4E99-4BD3-B898-95E34B2E5E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9CB3BFA2-4E99-4BD3-B898-95E34B2E5E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9CB3BFA2-4E99-4BD3-B898-95E34B2E5E4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9CB3BFA2-4E99-4BD3-B898-95E34B2E5E42}"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CB3BFA2-4E99-4BD3-B898-95E34B2E5E42}"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B3BFA2-4E99-4BD3-B898-95E34B2E5E42}"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9CB3BFA2-4E99-4BD3-B898-95E34B2E5E4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9CB3BFA2-4E99-4BD3-B898-95E34B2E5E4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9CB3BFA2-4E99-4BD3-B898-95E34B2E5E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endParaRPr 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9CB3BFA2-4E99-4BD3-B898-95E34B2E5E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8ED37-31B2-400A-A1CA-050D7AA9FC42}" type="slidenum">
              <a:rPr lang="en-US" smtClean="0"/>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panose="020B0604020202020204"/>
              </a:rPr>
              <a:t>”</a:t>
            </a:r>
            <a:endParaRPr lang="en-US" dirty="0">
              <a:solidFill>
                <a:schemeClr val="accent1">
                  <a:lumMod val="60000"/>
                  <a:lumOff val="40000"/>
                </a:schemeClr>
              </a:solidFill>
              <a:latin typeface="Arial" panose="020B0604020202020204"/>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9CB3BFA2-4E99-4BD3-B898-95E34B2E5E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9CB3BFA2-4E99-4BD3-B898-95E34B2E5E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8ED37-31B2-400A-A1CA-050D7AA9FC42}" type="slidenum">
              <a:rPr lang="en-US" smtClean="0"/>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9CB3BFA2-4E99-4BD3-B898-95E34B2E5E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9CB3BFA2-4E99-4BD3-B898-95E34B2E5E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9CB3BFA2-4E99-4BD3-B898-95E34B2E5E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5.xml"/><Relationship Id="rId8" Type="http://schemas.openxmlformats.org/officeDocument/2006/relationships/slideLayout" Target="../slideLayouts/slideLayout24.xml"/><Relationship Id="rId7" Type="http://schemas.openxmlformats.org/officeDocument/2006/relationships/slideLayout" Target="../slideLayouts/slideLayout23.xml"/><Relationship Id="rId6" Type="http://schemas.openxmlformats.org/officeDocument/2006/relationships/slideLayout" Target="../slideLayouts/slideLayout22.xml"/><Relationship Id="rId5" Type="http://schemas.openxmlformats.org/officeDocument/2006/relationships/slideLayout" Target="../slideLayouts/slideLayout21.xml"/><Relationship Id="rId4" Type="http://schemas.openxmlformats.org/officeDocument/2006/relationships/slideLayout" Target="../slideLayouts/slideLayout20.xml"/><Relationship Id="rId3" Type="http://schemas.openxmlformats.org/officeDocument/2006/relationships/slideLayout" Target="../slideLayouts/slideLayout19.xml"/><Relationship Id="rId2" Type="http://schemas.openxmlformats.org/officeDocument/2006/relationships/slideLayout" Target="../slideLayouts/slideLayout18.xml"/><Relationship Id="rId17" Type="http://schemas.openxmlformats.org/officeDocument/2006/relationships/theme" Target="../theme/theme2.xml"/><Relationship Id="rId16" Type="http://schemas.openxmlformats.org/officeDocument/2006/relationships/slideLayout" Target="../slideLayouts/slideLayout32.xml"/><Relationship Id="rId15" Type="http://schemas.openxmlformats.org/officeDocument/2006/relationships/slideLayout" Target="../slideLayouts/slideLayout31.xml"/><Relationship Id="rId14" Type="http://schemas.openxmlformats.org/officeDocument/2006/relationships/slideLayout" Target="../slideLayouts/slideLayout30.xml"/><Relationship Id="rId13" Type="http://schemas.openxmlformats.org/officeDocument/2006/relationships/slideLayout" Target="../slideLayouts/slideLayout29.xml"/><Relationship Id="rId12" Type="http://schemas.openxmlformats.org/officeDocument/2006/relationships/slideLayout" Target="../slideLayouts/slideLayout28.xml"/><Relationship Id="rId11" Type="http://schemas.openxmlformats.org/officeDocument/2006/relationships/slideLayout" Target="../slideLayouts/slideLayout27.xml"/><Relationship Id="rId10" Type="http://schemas.openxmlformats.org/officeDocument/2006/relationships/slideLayout" Target="../slideLayouts/slideLayout26.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9CB3BFA2-4E99-4BD3-B898-95E34B2E5E42}" type="datetimeFigureOut">
              <a:rPr lang="en-US" smtClean="0"/>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6248ED37-31B2-400A-A1CA-050D7AA9FC42}"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CB3BFA2-4E99-4BD3-B898-95E34B2E5E42}" type="datetimeFigureOut">
              <a:rPr lang="en-US" smtClean="0"/>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248ED37-31B2-400A-A1CA-050D7AA9FC42}"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7.xml"/><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student_2\Desktop\old_engg.jpg"/>
          <p:cNvPicPr>
            <a:picLocks noChangeAspect="1" noChangeArrowheads="1"/>
          </p:cNvPicPr>
          <p:nvPr/>
        </p:nvPicPr>
        <p:blipFill>
          <a:blip r:embed="rId1"/>
          <a:srcRect/>
          <a:stretch>
            <a:fillRect/>
          </a:stretch>
        </p:blipFill>
        <p:spPr bwMode="auto">
          <a:xfrm>
            <a:off x="1421363" y="0"/>
            <a:ext cx="9144000" cy="1933643"/>
          </a:xfrm>
          <a:prstGeom prst="rect">
            <a:avLst/>
          </a:prstGeom>
          <a:noFill/>
        </p:spPr>
      </p:pic>
      <p:sp>
        <p:nvSpPr>
          <p:cNvPr id="2" name="Title 1"/>
          <p:cNvSpPr>
            <a:spLocks noGrp="1"/>
          </p:cNvSpPr>
          <p:nvPr>
            <p:ph type="ctrTitle"/>
          </p:nvPr>
        </p:nvSpPr>
        <p:spPr>
          <a:xfrm>
            <a:off x="1421363" y="2728471"/>
            <a:ext cx="9144000" cy="475449"/>
          </a:xfrm>
        </p:spPr>
        <p:txBody>
          <a:bodyPr>
            <a:noAutofit/>
          </a:bodyPr>
          <a:lstStyle/>
          <a:p>
            <a:pPr algn="ctr"/>
            <a:r>
              <a:rPr lang="en-US" sz="2800" b="1" dirty="0">
                <a:solidFill>
                  <a:schemeClr val="accent2"/>
                </a:solidFill>
                <a:latin typeface="Times New Roman" panose="02020603050405020304" pitchFamily="18" charset="0"/>
                <a:ea typeface="Calibri" panose="020F0502020204030204" pitchFamily="34" charset="0"/>
                <a:cs typeface="Mangal" panose="02040503050203030202" pitchFamily="18" charset="0"/>
              </a:rPr>
              <a:t>“SMART LPG, SMOKE AND FIRE DETECTION SYSTEM WITH AUTOMATED SAFETY RESPONSE”</a:t>
            </a:r>
            <a:endParaRPr lang="en-US" sz="2800" b="1" dirty="0">
              <a:solidFill>
                <a:schemeClr val="accent2"/>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321837" y="3203920"/>
            <a:ext cx="9144000" cy="1371600"/>
          </a:xfrm>
        </p:spPr>
        <p:txBody>
          <a:bodyPr>
            <a:noAutofit/>
          </a:bodyPr>
          <a:lstStyle/>
          <a:p>
            <a:pPr algn="ctr"/>
            <a:r>
              <a:rPr lang="en-US" b="1" dirty="0">
                <a:solidFill>
                  <a:srgbClr val="002060"/>
                </a:solidFill>
                <a:latin typeface="Times New Roman" panose="02020603050405020304" pitchFamily="18" charset="0"/>
                <a:cs typeface="Times New Roman" panose="02020603050405020304" pitchFamily="18" charset="0"/>
              </a:rPr>
              <a:t>By</a:t>
            </a:r>
            <a:endParaRPr lang="en-US" b="1" dirty="0">
              <a:solidFill>
                <a:srgbClr val="002060"/>
              </a:solidFill>
              <a:latin typeface="Times New Roman" panose="02020603050405020304" pitchFamily="18" charset="0"/>
              <a:cs typeface="Times New Roman" panose="02020603050405020304" pitchFamily="18" charset="0"/>
            </a:endParaRPr>
          </a:p>
          <a:p>
            <a:pPr algn="ctr"/>
            <a:r>
              <a:rPr lang="en-US" b="1" dirty="0">
                <a:solidFill>
                  <a:srgbClr val="002060"/>
                </a:solidFill>
                <a:latin typeface="Times New Roman" panose="02020603050405020304" pitchFamily="18" charset="0"/>
                <a:cs typeface="Times New Roman" panose="02020603050405020304" pitchFamily="18" charset="0"/>
              </a:rPr>
              <a:t>VARUN .U. KUMBHARE [104]</a:t>
            </a:r>
            <a:endParaRPr lang="en-US" b="1" dirty="0">
              <a:solidFill>
                <a:srgbClr val="002060"/>
              </a:solidFill>
              <a:latin typeface="Times New Roman" panose="02020603050405020304" pitchFamily="18" charset="0"/>
              <a:cs typeface="Times New Roman" panose="02020603050405020304" pitchFamily="18" charset="0"/>
            </a:endParaRPr>
          </a:p>
          <a:p>
            <a:pPr algn="ctr"/>
            <a:r>
              <a:rPr lang="en-US" b="1" dirty="0">
                <a:solidFill>
                  <a:srgbClr val="002060"/>
                </a:solidFill>
                <a:latin typeface="Times New Roman" panose="02020603050405020304" pitchFamily="18" charset="0"/>
                <a:cs typeface="Times New Roman" panose="02020603050405020304" pitchFamily="18" charset="0"/>
              </a:rPr>
              <a:t>MOHAN .M. JADHAV [114]</a:t>
            </a:r>
            <a:endParaRPr lang="en-US" b="1" dirty="0">
              <a:solidFill>
                <a:srgbClr val="002060"/>
              </a:solidFill>
              <a:latin typeface="Times New Roman" panose="02020603050405020304" pitchFamily="18" charset="0"/>
              <a:cs typeface="Times New Roman" panose="02020603050405020304" pitchFamily="18" charset="0"/>
            </a:endParaRPr>
          </a:p>
          <a:p>
            <a:pPr algn="ctr"/>
            <a:r>
              <a:rPr lang="en-US" b="1" dirty="0">
                <a:solidFill>
                  <a:srgbClr val="002060"/>
                </a:solidFill>
                <a:latin typeface="Times New Roman" panose="02020603050405020304" pitchFamily="18" charset="0"/>
                <a:cs typeface="Times New Roman" panose="02020603050405020304" pitchFamily="18" charset="0"/>
              </a:rPr>
              <a:t>PRATIK .S. JAWALE [118]</a:t>
            </a:r>
            <a:endParaRPr lang="en-US" b="1" dirty="0">
              <a:solidFill>
                <a:srgbClr val="00B0F0"/>
              </a:solidFill>
              <a:latin typeface="Times New Roman" panose="02020603050405020304" pitchFamily="18" charset="0"/>
              <a:cs typeface="Times New Roman" panose="02020603050405020304" pitchFamily="18" charset="0"/>
            </a:endParaRPr>
          </a:p>
          <a:p>
            <a:pPr algn="ctr"/>
            <a:r>
              <a:rPr lang="en-US" sz="2400" b="1" dirty="0">
                <a:solidFill>
                  <a:srgbClr val="7030A0"/>
                </a:solidFill>
                <a:latin typeface="Times New Roman" panose="02020603050405020304" pitchFamily="18" charset="0"/>
                <a:ea typeface="+mj-ea"/>
                <a:cs typeface="Times New Roman" panose="02020603050405020304" pitchFamily="18" charset="0"/>
              </a:rPr>
              <a:t>Under Guidance of</a:t>
            </a:r>
            <a:endParaRPr lang="en-US" sz="2400" b="1" dirty="0">
              <a:solidFill>
                <a:srgbClr val="7030A0"/>
              </a:solidFill>
              <a:latin typeface="Times New Roman" panose="02020603050405020304" pitchFamily="18" charset="0"/>
              <a:ea typeface="+mj-ea"/>
              <a:cs typeface="Times New Roman" panose="02020603050405020304" pitchFamily="18" charset="0"/>
            </a:endParaRPr>
          </a:p>
          <a:p>
            <a:pPr algn="ctr"/>
            <a:r>
              <a:rPr lang="en-US" b="1" dirty="0">
                <a:solidFill>
                  <a:srgbClr val="00B0F0"/>
                </a:solidFill>
                <a:latin typeface="Times New Roman" panose="02020603050405020304" pitchFamily="18" charset="0"/>
                <a:cs typeface="Times New Roman" panose="02020603050405020304" pitchFamily="18" charset="0"/>
              </a:rPr>
              <a:t>SAY</a:t>
            </a:r>
            <a:r>
              <a:rPr lang="en-IN" altLang="en-US" b="1" dirty="0">
                <a:solidFill>
                  <a:srgbClr val="00B0F0"/>
                </a:solidFill>
                <a:latin typeface="Times New Roman" panose="02020603050405020304" pitchFamily="18" charset="0"/>
                <a:cs typeface="Times New Roman" panose="02020603050405020304" pitchFamily="18" charset="0"/>
              </a:rPr>
              <a:t>A</a:t>
            </a:r>
            <a:r>
              <a:rPr lang="en-US" b="1" dirty="0">
                <a:solidFill>
                  <a:srgbClr val="00B0F0"/>
                </a:solidFill>
                <a:latin typeface="Times New Roman" panose="02020603050405020304" pitchFamily="18" charset="0"/>
                <a:cs typeface="Times New Roman" panose="02020603050405020304" pitchFamily="18" charset="0"/>
              </a:rPr>
              <a:t>LI MANE</a:t>
            </a:r>
            <a:endParaRPr lang="en-US" b="1" dirty="0">
              <a:solidFill>
                <a:srgbClr val="00B0F0"/>
              </a:solidFill>
              <a:latin typeface="Times New Roman" panose="02020603050405020304" pitchFamily="18" charset="0"/>
              <a:cs typeface="Times New Roman" panose="02020603050405020304" pitchFamily="18" charset="0"/>
            </a:endParaRPr>
          </a:p>
          <a:p>
            <a:pPr algn="ctr"/>
            <a:r>
              <a:rPr lang="en-US" b="1" dirty="0">
                <a:solidFill>
                  <a:srgbClr val="7030A0"/>
                </a:solidFill>
                <a:latin typeface="Times New Roman" panose="02020603050405020304" pitchFamily="18" charset="0"/>
                <a:cs typeface="Times New Roman" panose="02020603050405020304" pitchFamily="18" charset="0"/>
              </a:rPr>
              <a:t>Department of Electronics and Telecommunication Engineering,</a:t>
            </a:r>
            <a:endParaRPr lang="en-US" b="1" dirty="0">
              <a:solidFill>
                <a:srgbClr val="7030A0"/>
              </a:solidFill>
              <a:latin typeface="Times New Roman" panose="02020603050405020304" pitchFamily="18" charset="0"/>
              <a:cs typeface="Times New Roman" panose="02020603050405020304" pitchFamily="18" charset="0"/>
            </a:endParaRPr>
          </a:p>
          <a:p>
            <a:pPr algn="ctr"/>
            <a:r>
              <a:rPr lang="en-US" b="1" dirty="0">
                <a:solidFill>
                  <a:srgbClr val="7030A0"/>
                </a:solidFill>
                <a:latin typeface="Times New Roman" panose="02020603050405020304" pitchFamily="18" charset="0"/>
                <a:cs typeface="Times New Roman" panose="02020603050405020304" pitchFamily="18" charset="0"/>
              </a:rPr>
              <a:t>D. Y. Patil College of Engineering, </a:t>
            </a:r>
            <a:r>
              <a:rPr lang="en-US" b="1" dirty="0" err="1">
                <a:solidFill>
                  <a:srgbClr val="7030A0"/>
                </a:solidFill>
                <a:latin typeface="Times New Roman" panose="02020603050405020304" pitchFamily="18" charset="0"/>
                <a:cs typeface="Times New Roman" panose="02020603050405020304" pitchFamily="18" charset="0"/>
              </a:rPr>
              <a:t>Akurdi</a:t>
            </a:r>
            <a:r>
              <a:rPr lang="en-US" b="1" dirty="0">
                <a:solidFill>
                  <a:srgbClr val="7030A0"/>
                </a:solidFill>
                <a:latin typeface="Times New Roman" panose="02020603050405020304" pitchFamily="18" charset="0"/>
                <a:cs typeface="Times New Roman" panose="02020603050405020304" pitchFamily="18" charset="0"/>
              </a:rPr>
              <a:t>, Pune</a:t>
            </a:r>
            <a:endParaRPr lang="en-US" b="1" dirty="0">
              <a:solidFill>
                <a:srgbClr val="7030A0"/>
              </a:solidFill>
              <a:latin typeface="Times New Roman" panose="02020603050405020304" pitchFamily="18" charset="0"/>
              <a:cs typeface="Times New Roman" panose="02020603050405020304" pitchFamily="18" charset="0"/>
            </a:endParaRPr>
          </a:p>
          <a:p>
            <a:pPr algn="ctr"/>
            <a:r>
              <a:rPr lang="en-US" b="1" dirty="0">
                <a:solidFill>
                  <a:srgbClr val="7030A0"/>
                </a:solidFill>
                <a:latin typeface="Times New Roman" panose="02020603050405020304" pitchFamily="18" charset="0"/>
                <a:cs typeface="Times New Roman" panose="02020603050405020304" pitchFamily="18" charset="0"/>
              </a:rPr>
              <a:t>2025-2026</a:t>
            </a:r>
            <a:endParaRPr lang="en-US" b="1" dirty="0">
              <a:solidFill>
                <a:srgbClr val="7030A0"/>
              </a:solidFill>
              <a:latin typeface="Times New Roman" panose="02020603050405020304" pitchFamily="18" charset="0"/>
              <a:cs typeface="Times New Roman" panose="02020603050405020304" pitchFamily="18" charset="0"/>
            </a:endParaRPr>
          </a:p>
        </p:txBody>
      </p:sp>
      <p:pic>
        <p:nvPicPr>
          <p:cNvPr id="25601" name="Picture 1" descr="C:\Users\student_2\Desktop\logo.jpg"/>
          <p:cNvPicPr>
            <a:picLocks noChangeAspect="1" noChangeArrowheads="1"/>
          </p:cNvPicPr>
          <p:nvPr/>
        </p:nvPicPr>
        <p:blipFill>
          <a:blip r:embed="rId2"/>
          <a:srcRect/>
          <a:stretch>
            <a:fillRect/>
          </a:stretch>
        </p:blipFill>
        <p:spPr bwMode="auto">
          <a:xfrm>
            <a:off x="9657017" y="0"/>
            <a:ext cx="908346" cy="908346"/>
          </a:xfrm>
          <a:prstGeom prst="rect">
            <a:avLst/>
          </a:prstGeom>
          <a:noFill/>
        </p:spPr>
      </p:pic>
      <p:sp>
        <p:nvSpPr>
          <p:cNvPr id="6" name="Rectangle 5"/>
          <p:cNvSpPr/>
          <p:nvPr/>
        </p:nvSpPr>
        <p:spPr>
          <a:xfrm>
            <a:off x="4191000" y="1862500"/>
            <a:ext cx="3810000" cy="461665"/>
          </a:xfrm>
          <a:prstGeom prst="rect">
            <a:avLst/>
          </a:prstGeom>
        </p:spPr>
        <p:txBody>
          <a:bodyPr wrap="square">
            <a:spAutoFit/>
          </a:bodyPr>
          <a:lstStyle/>
          <a:p>
            <a:pPr algn="ctr"/>
            <a:r>
              <a:rPr lang="en-US" sz="2400" b="1" dirty="0">
                <a:solidFill>
                  <a:srgbClr val="7030A0"/>
                </a:solidFill>
                <a:latin typeface="Times New Roman" panose="02020603050405020304" pitchFamily="18" charset="0"/>
                <a:cs typeface="Times New Roman" panose="02020603050405020304" pitchFamily="18" charset="0"/>
              </a:rPr>
              <a:t> </a:t>
            </a:r>
            <a:r>
              <a:rPr lang="en-US" b="1" dirty="0">
                <a:solidFill>
                  <a:srgbClr val="002060"/>
                </a:solidFill>
                <a:latin typeface="Times New Roman" panose="02020603050405020304" pitchFamily="18" charset="0"/>
                <a:cs typeface="Times New Roman" panose="02020603050405020304" pitchFamily="18" charset="0"/>
              </a:rPr>
              <a:t>PBL : CCE-2 Presentation on</a:t>
            </a:r>
            <a:r>
              <a:rPr lang="en-US" b="1" dirty="0">
                <a:solidFill>
                  <a:srgbClr val="7030A0"/>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accent2">
                <a:lumMod val="20000"/>
                <a:lumOff val="8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452966" y="659051"/>
            <a:ext cx="9023687" cy="913701"/>
          </a:xfrm>
        </p:spPr>
        <p:txBody>
          <a:bodyPr>
            <a:normAutofit/>
          </a:bodyPr>
          <a:lstStyle/>
          <a:p>
            <a:r>
              <a:rPr lang="en-US" sz="4400" b="1" dirty="0">
                <a:latin typeface="Century Schoolbook" panose="02040604050505020304" pitchFamily="18" charset="0"/>
              </a:rPr>
              <a:t>Objective of Project</a:t>
            </a:r>
            <a:endParaRPr lang="en-US" sz="4400" dirty="0">
              <a:latin typeface="Century Schoolbook" panose="02040604050505020304" pitchFamily="18" charset="0"/>
            </a:endParaRPr>
          </a:p>
        </p:txBody>
      </p:sp>
      <p:sp>
        <p:nvSpPr>
          <p:cNvPr id="3" name="Content Placeholder 2"/>
          <p:cNvSpPr>
            <a:spLocks noGrp="1"/>
          </p:cNvSpPr>
          <p:nvPr>
            <p:ph idx="1"/>
          </p:nvPr>
        </p:nvSpPr>
        <p:spPr>
          <a:xfrm>
            <a:off x="2967135" y="1819469"/>
            <a:ext cx="8078595" cy="4926564"/>
          </a:xfrm>
        </p:spPr>
        <p:txBody>
          <a:bodyPr>
            <a:normAutofit/>
          </a:bodyPr>
          <a:lstStyle/>
          <a:p>
            <a:pPr>
              <a:lnSpc>
                <a:spcPct val="150000"/>
              </a:lnSpc>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To detect the leakage of LPG gas, presence of smoke and fire using appropriate sensors.</a:t>
            </a:r>
            <a:endParaRPr lang="en-US" sz="2400" dirty="0">
              <a:latin typeface="Times New Roman" panose="02020603050405020304" pitchFamily="18" charset="0"/>
              <a:cs typeface="Times New Roman" panose="02020603050405020304" pitchFamily="18" charset="0"/>
            </a:endParaRPr>
          </a:p>
          <a:p>
            <a:pPr>
              <a:lnSpc>
                <a:spcPct val="150000"/>
              </a:lnSpc>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To perform  automatic safety actions such as turning OFF the gas regula</a:t>
            </a:r>
            <a:r>
              <a:rPr lang="en-IN" altLang="en-US" sz="2400" dirty="0">
                <a:latin typeface="Times New Roman" panose="02020603050405020304" pitchFamily="18" charset="0"/>
                <a:cs typeface="Times New Roman" panose="02020603050405020304" pitchFamily="18" charset="0"/>
              </a:rPr>
              <a:t>tor</a:t>
            </a:r>
            <a:r>
              <a:rPr lang="en-US" sz="2400" dirty="0">
                <a:latin typeface="Times New Roman" panose="02020603050405020304" pitchFamily="18" charset="0"/>
                <a:cs typeface="Times New Roman" panose="02020603050405020304" pitchFamily="18" charset="0"/>
              </a:rPr>
              <a:t>, activating the exhaust fan and triggering a fire extinguisher. </a:t>
            </a:r>
            <a:endParaRPr lang="en-US" sz="2400" dirty="0">
              <a:latin typeface="Times New Roman" panose="02020603050405020304" pitchFamily="18" charset="0"/>
              <a:cs typeface="Times New Roman" panose="02020603050405020304" pitchFamily="18" charset="0"/>
            </a:endParaRPr>
          </a:p>
          <a:p>
            <a:pPr>
              <a:lnSpc>
                <a:spcPct val="150000"/>
              </a:lnSpc>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To alerts users through sound and visual indicators for immediate awareness.</a:t>
            </a:r>
            <a:endParaRPr lang="en-US" sz="2400"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p:txBody>
      </p:sp>
      <p:pic>
        <p:nvPicPr>
          <p:cNvPr id="4" name="Picture 1" descr="C:\Users\student_2\Desktop\logo.jpg"/>
          <p:cNvPicPr>
            <a:picLocks noChangeAspect="1" noChangeArrowheads="1"/>
          </p:cNvPicPr>
          <p:nvPr/>
        </p:nvPicPr>
        <p:blipFill>
          <a:blip r:embed="rId1"/>
          <a:srcRect/>
          <a:stretch>
            <a:fillRect/>
          </a:stretch>
        </p:blipFill>
        <p:spPr bwMode="auto">
          <a:xfrm>
            <a:off x="11278298" y="0"/>
            <a:ext cx="913701" cy="913701"/>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latin typeface="Century Schoolbook" panose="02040604050505020304" pitchFamily="18" charset="0"/>
              </a:rPr>
              <a:t>Components</a:t>
            </a:r>
            <a:endParaRPr lang="en-IN" sz="4400" dirty="0">
              <a:latin typeface="Century Schoolbook" panose="02040604050505020304" pitchFamily="18" charset="0"/>
            </a:endParaRPr>
          </a:p>
        </p:txBody>
      </p:sp>
      <p:sp>
        <p:nvSpPr>
          <p:cNvPr id="3" name="Content Placeholder 2"/>
          <p:cNvSpPr>
            <a:spLocks noGrp="1"/>
          </p:cNvSpPr>
          <p:nvPr>
            <p:ph idx="1"/>
          </p:nvPr>
        </p:nvSpPr>
        <p:spPr>
          <a:xfrm>
            <a:off x="2802194" y="1700981"/>
            <a:ext cx="8702418" cy="4210241"/>
          </a:xfrm>
        </p:spPr>
        <p:txBody>
          <a:bodyPr>
            <a:normAutofit lnSpcReduction="10000"/>
          </a:bodyPr>
          <a:lstStyle/>
          <a:p>
            <a:pPr marL="0" indent="0">
              <a:buNone/>
            </a:pPr>
            <a:r>
              <a:rPr lang="en-IN" b="1" dirty="0"/>
              <a:t>     Microcontroller: Arduino UNO</a:t>
            </a:r>
            <a:endParaRPr lang="en-IN" dirty="0"/>
          </a:p>
          <a:p>
            <a:r>
              <a:rPr lang="en-IN" dirty="0"/>
              <a:t>Model: ATmega328P-based</a:t>
            </a:r>
            <a:endParaRPr lang="en-IN" dirty="0"/>
          </a:p>
          <a:p>
            <a:r>
              <a:rPr lang="en-IN" dirty="0"/>
              <a:t>Operating Voltage: 5V</a:t>
            </a:r>
            <a:endParaRPr lang="en-IN" dirty="0"/>
          </a:p>
          <a:p>
            <a:r>
              <a:rPr lang="en-IN" dirty="0"/>
              <a:t>Input Voltage: 7–12V</a:t>
            </a:r>
            <a:endParaRPr lang="en-IN" dirty="0"/>
          </a:p>
          <a:p>
            <a:r>
              <a:rPr lang="en-IN" dirty="0"/>
              <a:t>Affordable, widely supported, has sufficient digital/</a:t>
            </a:r>
            <a:r>
              <a:rPr lang="en-IN" dirty="0" err="1"/>
              <a:t>analog</a:t>
            </a:r>
            <a:r>
              <a:rPr lang="en-IN" dirty="0"/>
              <a:t> pins, and easy to program using Arduino IDE</a:t>
            </a:r>
            <a:endParaRPr lang="en-IN" dirty="0"/>
          </a:p>
          <a:p>
            <a:pPr marL="0" indent="0">
              <a:buNone/>
            </a:pPr>
            <a:r>
              <a:rPr lang="en-IN" b="1" dirty="0"/>
              <a:t>     Gas/Smoke Sensor: MQ-2</a:t>
            </a:r>
            <a:endParaRPr lang="en-IN" dirty="0"/>
          </a:p>
          <a:p>
            <a:r>
              <a:rPr lang="en-IN" dirty="0"/>
              <a:t>Detects LPG, Smoke, Methane, Propane, Hydrogen</a:t>
            </a:r>
            <a:endParaRPr lang="en-IN" dirty="0"/>
          </a:p>
          <a:p>
            <a:r>
              <a:rPr lang="en-IN" dirty="0"/>
              <a:t>Operating Voltage: 5V</a:t>
            </a:r>
            <a:endParaRPr lang="en-IN" dirty="0"/>
          </a:p>
          <a:p>
            <a:r>
              <a:rPr lang="en-IN" dirty="0"/>
              <a:t>Sensitivity Range: 200–10000 ppm gas concentration</a:t>
            </a:r>
            <a:endParaRPr lang="en-IN" dirty="0"/>
          </a:p>
          <a:p>
            <a:r>
              <a:rPr lang="en-IN" dirty="0"/>
              <a:t>Low cost, sensitive to LPG and smoke, reliable for indoor leakage detection</a:t>
            </a:r>
            <a:endParaRPr lang="en-IN" dirty="0"/>
          </a:p>
          <a:p>
            <a:pPr marL="0" indent="0">
              <a:buNone/>
            </a:pPr>
            <a:endParaRPr lang="en-IN" dirty="0"/>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255639"/>
            <a:ext cx="8915400" cy="6292645"/>
          </a:xfrm>
        </p:spPr>
        <p:txBody>
          <a:bodyPr>
            <a:normAutofit fontScale="65000"/>
          </a:bodyPr>
          <a:lstStyle/>
          <a:p>
            <a:pPr marL="0" indent="0">
              <a:buNone/>
            </a:pPr>
            <a:r>
              <a:rPr lang="en-IN" b="1" dirty="0"/>
              <a:t>     Flame Sensor Module</a:t>
            </a:r>
            <a:endParaRPr lang="en-IN" dirty="0"/>
          </a:p>
          <a:p>
            <a:r>
              <a:rPr lang="en-IN" dirty="0"/>
              <a:t>Detects infrared (760–1100 nm flame light)</a:t>
            </a:r>
            <a:endParaRPr lang="en-IN" dirty="0"/>
          </a:p>
          <a:p>
            <a:r>
              <a:rPr lang="en-IN" dirty="0"/>
              <a:t>Operating Voltage: 3.3V–5V</a:t>
            </a:r>
            <a:endParaRPr lang="en-IN" dirty="0"/>
          </a:p>
          <a:p>
            <a:r>
              <a:rPr lang="en-IN" dirty="0"/>
              <a:t>Detection Range: 0.8–1.5 meters</a:t>
            </a:r>
            <a:endParaRPr lang="en-IN" dirty="0"/>
          </a:p>
          <a:p>
            <a:r>
              <a:rPr lang="en-IN" dirty="0"/>
              <a:t>Fast flame response, low cost, and compatible with Arduino</a:t>
            </a:r>
            <a:endParaRPr lang="en-IN" dirty="0"/>
          </a:p>
          <a:p>
            <a:pPr marL="0" indent="0">
              <a:buNone/>
            </a:pPr>
            <a:r>
              <a:rPr lang="en-IN" b="1" dirty="0"/>
              <a:t>     Buzzer (Active 5V)</a:t>
            </a:r>
            <a:endParaRPr lang="en-IN" dirty="0"/>
          </a:p>
          <a:p>
            <a:r>
              <a:rPr lang="en-IN" dirty="0"/>
              <a:t>Active buzzer (internal oscillator)</a:t>
            </a:r>
            <a:endParaRPr lang="en-IN" dirty="0"/>
          </a:p>
          <a:p>
            <a:r>
              <a:rPr lang="en-IN" dirty="0"/>
              <a:t>Voltage: 5V</a:t>
            </a:r>
            <a:endParaRPr lang="en-IN" dirty="0"/>
          </a:p>
          <a:p>
            <a:r>
              <a:rPr lang="en-IN" dirty="0"/>
              <a:t>Sound Level: 85 dB</a:t>
            </a:r>
            <a:endParaRPr lang="en-IN" dirty="0"/>
          </a:p>
          <a:p>
            <a:r>
              <a:rPr lang="en-IN" dirty="0"/>
              <a:t>Produces alert sound immediately without delay	</a:t>
            </a:r>
            <a:endParaRPr lang="en-IN" dirty="0"/>
          </a:p>
          <a:p>
            <a:pPr marL="0" indent="0">
              <a:buNone/>
            </a:pPr>
            <a:r>
              <a:rPr lang="en-IN" b="1" dirty="0"/>
              <a:t>    </a:t>
            </a:r>
            <a:r>
              <a:rPr lang="en-US" altLang="en-US" b="1" dirty="0"/>
              <a:t>Solenoid Valve (LPG Gas Cut-off)</a:t>
            </a:r>
            <a:endParaRPr lang="en-US" altLang="en-US" b="1" dirty="0"/>
          </a:p>
          <a:p>
            <a:pPr>
              <a:buFont typeface="Wingdings" panose="05000000000000000000" charset="0"/>
              <a:buChar char="Ø"/>
            </a:pPr>
            <a:r>
              <a:rPr lang="en-US" altLang="en-US" dirty="0"/>
              <a:t>Operating Voltage: 12V DC</a:t>
            </a:r>
            <a:endParaRPr lang="en-US" altLang="en-US" dirty="0"/>
          </a:p>
          <a:p>
            <a:pPr>
              <a:buFont typeface="Wingdings" panose="05000000000000000000" charset="0"/>
              <a:buChar char="Ø"/>
            </a:pPr>
            <a:r>
              <a:rPr lang="en-US" altLang="en-US" dirty="0"/>
              <a:t>Current Rating: ~300–500 mA</a:t>
            </a:r>
            <a:endParaRPr lang="en-US" altLang="en-US" dirty="0"/>
          </a:p>
          <a:p>
            <a:pPr>
              <a:buFont typeface="Wingdings" panose="05000000000000000000" charset="0"/>
              <a:buChar char="Ø"/>
            </a:pPr>
            <a:r>
              <a:rPr lang="en-US" altLang="en-US" dirty="0"/>
              <a:t>Port Size: ½ inch (standard for LPG regulator connection)</a:t>
            </a:r>
            <a:endParaRPr lang="en-US" altLang="en-US" dirty="0"/>
          </a:p>
          <a:p>
            <a:pPr>
              <a:buFont typeface="Wingdings" panose="05000000000000000000" charset="0"/>
              <a:buChar char="Ø"/>
            </a:pPr>
            <a:r>
              <a:rPr lang="en-US" altLang="en-US" dirty="0"/>
              <a:t>Function: Normally closed (opens only when energized, used to stop gas supply during leakage).</a:t>
            </a:r>
            <a:endParaRPr lang="en-US" altLang="en-US" dirty="0"/>
          </a:p>
          <a:p>
            <a:pPr marL="0" indent="0">
              <a:buNone/>
            </a:pPr>
            <a:r>
              <a:rPr lang="en-US" altLang="en-US" b="1" dirty="0"/>
              <a:t>✅ Water Pump (Mini DC Motor Pump)</a:t>
            </a:r>
            <a:endParaRPr lang="en-US" altLang="en-US" b="1" dirty="0"/>
          </a:p>
          <a:p>
            <a:pPr>
              <a:buFont typeface="Wingdings" panose="05000000000000000000" charset="0"/>
              <a:buChar char="Ø"/>
            </a:pPr>
            <a:r>
              <a:rPr lang="en-US" altLang="en-US" dirty="0"/>
              <a:t>Operating Voltage: 12V DC (commonly 5–12V range available)</a:t>
            </a:r>
            <a:endParaRPr lang="en-US" altLang="en-US" dirty="0"/>
          </a:p>
          <a:p>
            <a:pPr>
              <a:buFont typeface="Wingdings" panose="05000000000000000000" charset="0"/>
              <a:buChar char="Ø"/>
            </a:pPr>
            <a:r>
              <a:rPr lang="en-US" altLang="en-US" dirty="0"/>
              <a:t>Flow Rate: ~1–3 liters/min (depends on pump size)</a:t>
            </a:r>
            <a:endParaRPr lang="en-US" altLang="en-US" dirty="0"/>
          </a:p>
          <a:p>
            <a:pPr>
              <a:buFont typeface="Wingdings" panose="05000000000000000000" charset="0"/>
              <a:buChar char="Ø"/>
            </a:pPr>
            <a:r>
              <a:rPr lang="en-US" altLang="en-US" dirty="0"/>
              <a:t>Current Rating: ~300 mA – 1A</a:t>
            </a:r>
            <a:endParaRPr lang="en-US" altLang="en-US" dirty="0"/>
          </a:p>
          <a:p>
            <a:pPr>
              <a:buFont typeface="Wingdings" panose="05000000000000000000" charset="0"/>
              <a:buChar char="Ø"/>
            </a:pPr>
            <a:r>
              <a:rPr lang="en-US" altLang="en-US" dirty="0"/>
              <a:t>Application: Used for water dispensing/extinguishing small flames.</a:t>
            </a:r>
            <a:r>
              <a:rPr lang="en-IN" dirty="0"/>
              <a:t> </a:t>
            </a:r>
            <a:endParaRPr lang="en-IN" dirty="0"/>
          </a:p>
          <a:p>
            <a:pPr>
              <a:buFont typeface="Wingdings" panose="05000000000000000000" charset="0"/>
              <a:buChar char="Ø"/>
            </a:pP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757084"/>
            <a:ext cx="8915400" cy="5860026"/>
          </a:xfrm>
        </p:spPr>
        <p:txBody>
          <a:bodyPr/>
          <a:lstStyle/>
          <a:p>
            <a:pPr marL="0" indent="0">
              <a:buNone/>
            </a:pPr>
            <a:r>
              <a:rPr lang="en-IN" b="1" dirty="0"/>
              <a:t>     4-Channel Relay Module </a:t>
            </a:r>
            <a:endParaRPr lang="en-IN" dirty="0"/>
          </a:p>
          <a:p>
            <a:r>
              <a:rPr lang="en-IN" dirty="0"/>
              <a:t>Control Voltage: ~5V</a:t>
            </a:r>
            <a:endParaRPr lang="en-IN" dirty="0"/>
          </a:p>
          <a:p>
            <a:r>
              <a:rPr lang="en-IN" dirty="0"/>
              <a:t>Load: up to 10A 250V AC / 30V DC</a:t>
            </a:r>
            <a:endParaRPr lang="en-IN" dirty="0"/>
          </a:p>
          <a:p>
            <a:r>
              <a:rPr lang="en-IN" dirty="0"/>
              <a:t>Controls high-voltage devices (like exhaust fan, solenoid, extinguisher motor)</a:t>
            </a:r>
            <a:endParaRPr lang="en-IN" dirty="0"/>
          </a:p>
          <a:p>
            <a:pPr marL="0" indent="0">
              <a:buNone/>
            </a:pPr>
            <a:r>
              <a:rPr lang="en-IN" b="1" dirty="0"/>
              <a:t>     Exhaust Fan</a:t>
            </a:r>
            <a:endParaRPr lang="en-IN" dirty="0"/>
          </a:p>
          <a:p>
            <a:r>
              <a:rPr lang="en-IN" dirty="0"/>
              <a:t>Voltage: 12V DC</a:t>
            </a:r>
            <a:endParaRPr lang="en-IN" dirty="0"/>
          </a:p>
          <a:p>
            <a:r>
              <a:rPr lang="en-IN" dirty="0"/>
              <a:t>Current: ~300–500 mA</a:t>
            </a:r>
            <a:endParaRPr lang="en-IN" dirty="0"/>
          </a:p>
          <a:p>
            <a:r>
              <a:rPr lang="en-IN" dirty="0"/>
              <a:t>Removes leaked gas from room to avoid buildup of combustible atmosphere</a:t>
            </a:r>
            <a:endParaRPr lang="en-IN" dirty="0"/>
          </a:p>
          <a:p>
            <a:pPr marL="0" indent="0">
              <a:buNone/>
            </a:pPr>
            <a:r>
              <a:rPr lang="en-IN" b="1" dirty="0"/>
              <a:t>     Power Adapter</a:t>
            </a:r>
            <a:endParaRPr lang="en-IN" dirty="0"/>
          </a:p>
          <a:p>
            <a:r>
              <a:rPr lang="en-IN" dirty="0"/>
              <a:t>Type: 12V DC Adapter</a:t>
            </a:r>
            <a:endParaRPr lang="en-IN" dirty="0"/>
          </a:p>
          <a:p>
            <a:r>
              <a:rPr lang="en-IN" dirty="0"/>
              <a:t>Current: ≥ 1A</a:t>
            </a:r>
            <a:endParaRPr lang="en-IN" dirty="0"/>
          </a:p>
          <a:p>
            <a:r>
              <a:rPr lang="en-IN" dirty="0"/>
              <a:t>Powers all modules through a regulated power supply</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471948"/>
            <a:ext cx="8915400" cy="6096000"/>
          </a:xfrm>
        </p:spPr>
        <p:txBody>
          <a:bodyPr/>
          <a:lstStyle/>
          <a:p>
            <a:pPr marL="0" indent="0">
              <a:buNone/>
            </a:pPr>
            <a:r>
              <a:rPr lang="en-IN" b="1" dirty="0"/>
              <a:t>     LED + Resistor</a:t>
            </a:r>
            <a:endParaRPr lang="en-IN" dirty="0"/>
          </a:p>
          <a:p>
            <a:r>
              <a:rPr lang="en-IN" dirty="0"/>
              <a:t>LED: 5 mm (Red, Green, Yellow)</a:t>
            </a:r>
            <a:endParaRPr lang="en-IN" dirty="0"/>
          </a:p>
          <a:p>
            <a:r>
              <a:rPr lang="en-IN" dirty="0"/>
              <a:t>Resistor: 220 </a:t>
            </a:r>
            <a:r>
              <a:rPr lang="el-GR" dirty="0"/>
              <a:t>Ω – 330 Ω</a:t>
            </a:r>
            <a:endParaRPr lang="el-GR" dirty="0"/>
          </a:p>
          <a:p>
            <a:r>
              <a:rPr lang="en-IN" dirty="0"/>
              <a:t>Why: For status indication; resistors prevent LED burnout</a:t>
            </a:r>
            <a:endParaRPr lang="en-IN" dirty="0"/>
          </a:p>
          <a:p>
            <a:pPr marL="0" indent="0">
              <a:buNone/>
            </a:pPr>
            <a:r>
              <a:rPr lang="en-IN" b="1" dirty="0"/>
              <a:t>     Breadboard + Jumper Wire</a:t>
            </a:r>
            <a:endParaRPr lang="en-IN" dirty="0"/>
          </a:p>
          <a:p>
            <a:r>
              <a:rPr lang="en-IN" dirty="0"/>
              <a:t>Breadboard: 400–800 point</a:t>
            </a:r>
            <a:endParaRPr lang="en-IN" dirty="0"/>
          </a:p>
          <a:p>
            <a:r>
              <a:rPr lang="en-IN" dirty="0"/>
              <a:t>Jumper Wires: M-M, F-F, M-F</a:t>
            </a:r>
            <a:endParaRPr lang="en-IN" dirty="0"/>
          </a:p>
          <a:p>
            <a:r>
              <a:rPr lang="en-IN" dirty="0"/>
              <a:t>Rapid prototyping and wiring without soldering</a:t>
            </a:r>
            <a:endParaRPr lang="en-IN" b="1" dirty="0"/>
          </a:p>
          <a:p>
            <a:pPr marL="0" indent="0">
              <a:buNone/>
            </a:pPr>
            <a:r>
              <a:rPr lang="en-IN" b="1" dirty="0"/>
              <a:t> PCB</a:t>
            </a:r>
            <a:endParaRPr lang="en-IN" dirty="0"/>
          </a:p>
          <a:p>
            <a:r>
              <a:rPr lang="en-IN" dirty="0"/>
              <a:t>For final soldered version after testing</a:t>
            </a:r>
            <a:endParaRPr lang="en-IN" dirty="0"/>
          </a:p>
          <a:p>
            <a:pPr marL="0" indent="0">
              <a:buNone/>
            </a:pP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7043" y="624110"/>
            <a:ext cx="9557570" cy="857849"/>
          </a:xfrm>
        </p:spPr>
        <p:txBody>
          <a:bodyPr>
            <a:normAutofit/>
          </a:bodyPr>
          <a:lstStyle/>
          <a:p>
            <a:r>
              <a:rPr lang="en-US" sz="4000" b="1" dirty="0">
                <a:solidFill>
                  <a:srgbClr val="002060"/>
                </a:solidFill>
                <a:latin typeface="Century Schoolbook" panose="02040604050505020304" pitchFamily="18" charset="0"/>
                <a:cs typeface="Times New Roman" panose="02020603050405020304" pitchFamily="18" charset="0"/>
              </a:rPr>
              <a:t>Literature Survey</a:t>
            </a:r>
            <a:endParaRPr lang="en-US" sz="4000" b="1" dirty="0">
              <a:latin typeface="Century Schoolbook" panose="02040604050505020304" pitchFamily="18" charset="0"/>
            </a:endParaRPr>
          </a:p>
        </p:txBody>
      </p:sp>
      <p:graphicFrame>
        <p:nvGraphicFramePr>
          <p:cNvPr id="4" name="Content Placeholder 3"/>
          <p:cNvGraphicFramePr>
            <a:graphicFrameLocks noGrp="1"/>
          </p:cNvGraphicFramePr>
          <p:nvPr>
            <p:ph idx="1"/>
          </p:nvPr>
        </p:nvGraphicFramePr>
        <p:xfrm>
          <a:off x="1838131" y="1589688"/>
          <a:ext cx="9143999" cy="5379339"/>
        </p:xfrm>
        <a:graphic>
          <a:graphicData uri="http://schemas.openxmlformats.org/drawingml/2006/table">
            <a:tbl>
              <a:tblPr/>
              <a:tblGrid>
                <a:gridCol w="1642053"/>
                <a:gridCol w="1782281"/>
                <a:gridCol w="2435290"/>
                <a:gridCol w="3284375"/>
              </a:tblGrid>
              <a:tr h="764799">
                <a:tc>
                  <a:txBody>
                    <a:bodyPr/>
                    <a:lstStyle/>
                    <a:p>
                      <a:pPr marL="0" algn="ctr" defTabSz="457200" rtl="0" eaLnBrk="1" latinLnBrk="0" hangingPunct="1"/>
                      <a:r>
                        <a:rPr lang="en-US" sz="1400" b="1" kern="1200" dirty="0">
                          <a:solidFill>
                            <a:schemeClr val="tx1"/>
                          </a:solidFill>
                          <a:latin typeface="Times New Roman" panose="02020603050405020304" pitchFamily="18" charset="0"/>
                          <a:ea typeface="+mn-ea"/>
                          <a:cs typeface="Times New Roman" panose="02020603050405020304" pitchFamily="18" charset="0"/>
                        </a:rPr>
                        <a:t>Year</a:t>
                      </a:r>
                      <a:endParaRPr lang="en-US" sz="1400" b="1" kern="1200" dirty="0">
                        <a:solidFill>
                          <a:schemeClr val="tx1"/>
                        </a:solidFill>
                        <a:latin typeface="Times New Roman" panose="02020603050405020304" pitchFamily="18" charset="0"/>
                        <a:ea typeface="+mn-ea"/>
                        <a:cs typeface="Times New Roman" panose="02020603050405020304" pitchFamily="18" charset="0"/>
                      </a:endParaRPr>
                    </a:p>
                  </a:txBody>
                  <a:tcPr anchor="ctr">
                    <a:lnL>
                      <a:noFill/>
                    </a:lnL>
                    <a:lnR>
                      <a:noFill/>
                    </a:lnR>
                    <a:lnT>
                      <a:noFill/>
                    </a:lnT>
                    <a:lnB>
                      <a:noFill/>
                    </a:lnB>
                    <a:gradFill flip="none" rotWithShape="1">
                      <a:gsLst>
                        <a:gs pos="0">
                          <a:schemeClr val="accent6">
                            <a:lumMod val="5000"/>
                            <a:lumOff val="95000"/>
                          </a:schemeClr>
                        </a:gs>
                        <a:gs pos="100000">
                          <a:schemeClr val="accent6">
                            <a:lumMod val="45000"/>
                            <a:lumOff val="55000"/>
                          </a:schemeClr>
                        </a:gs>
                        <a:gs pos="99000">
                          <a:schemeClr val="accent6">
                            <a:lumMod val="45000"/>
                            <a:lumOff val="55000"/>
                          </a:schemeClr>
                        </a:gs>
                        <a:gs pos="100000">
                          <a:schemeClr val="accent6">
                            <a:lumMod val="30000"/>
                            <a:lumOff val="70000"/>
                          </a:schemeClr>
                        </a:gs>
                      </a:gsLst>
                      <a:lin ang="5400000" scaled="1"/>
                      <a:tileRect/>
                    </a:gradFill>
                  </a:tcPr>
                </a:tc>
                <a:tc>
                  <a:txBody>
                    <a:bodyPr/>
                    <a:lstStyle/>
                    <a:p>
                      <a:pPr marL="0" algn="ctr" defTabSz="457200" rtl="0" eaLnBrk="1" latinLnBrk="0" hangingPunct="1"/>
                      <a:r>
                        <a:rPr lang="en-US" sz="1400" b="1" kern="1200" dirty="0">
                          <a:solidFill>
                            <a:schemeClr val="tx1"/>
                          </a:solidFill>
                          <a:latin typeface="Times New Roman" panose="02020603050405020304" pitchFamily="18" charset="0"/>
                          <a:ea typeface="+mn-ea"/>
                          <a:cs typeface="Times New Roman" panose="02020603050405020304" pitchFamily="18" charset="0"/>
                        </a:rPr>
                        <a:t>Title</a:t>
                      </a:r>
                      <a:endParaRPr lang="en-US" sz="1400" b="1" kern="1200" dirty="0">
                        <a:solidFill>
                          <a:schemeClr val="tx1"/>
                        </a:solidFill>
                        <a:latin typeface="Times New Roman" panose="02020603050405020304" pitchFamily="18" charset="0"/>
                        <a:ea typeface="+mn-ea"/>
                        <a:cs typeface="Times New Roman" panose="02020603050405020304" pitchFamily="18" charset="0"/>
                      </a:endParaRPr>
                    </a:p>
                  </a:txBody>
                  <a:tcPr anchor="ctr">
                    <a:lnL>
                      <a:noFill/>
                    </a:lnL>
                    <a:lnR>
                      <a:noFill/>
                    </a:lnR>
                    <a:lnT>
                      <a:noFill/>
                    </a:lnT>
                    <a:lnB>
                      <a:noFill/>
                    </a:lnB>
                    <a:gradFill flip="none" rotWithShape="1">
                      <a:gsLst>
                        <a:gs pos="0">
                          <a:schemeClr val="accent6">
                            <a:lumMod val="5000"/>
                            <a:lumOff val="95000"/>
                          </a:schemeClr>
                        </a:gs>
                        <a:gs pos="100000">
                          <a:schemeClr val="accent6">
                            <a:lumMod val="45000"/>
                            <a:lumOff val="55000"/>
                          </a:schemeClr>
                        </a:gs>
                        <a:gs pos="99000">
                          <a:schemeClr val="accent6">
                            <a:lumMod val="45000"/>
                            <a:lumOff val="55000"/>
                          </a:schemeClr>
                        </a:gs>
                        <a:gs pos="100000">
                          <a:schemeClr val="accent6">
                            <a:lumMod val="30000"/>
                            <a:lumOff val="70000"/>
                          </a:schemeClr>
                        </a:gs>
                      </a:gsLst>
                      <a:lin ang="5400000" scaled="1"/>
                      <a:tileRect/>
                    </a:gradFill>
                  </a:tcPr>
                </a:tc>
                <a:tc>
                  <a:txBody>
                    <a:bodyPr/>
                    <a:lstStyle/>
                    <a:p>
                      <a:pPr marL="0" algn="ctr" defTabSz="457200" rtl="0" eaLnBrk="1" latinLnBrk="0" hangingPunct="1"/>
                      <a:r>
                        <a:rPr lang="en-US" sz="1400" b="1" kern="1200" dirty="0">
                          <a:solidFill>
                            <a:schemeClr val="tx1"/>
                          </a:solidFill>
                          <a:latin typeface="Times New Roman" panose="02020603050405020304" pitchFamily="18" charset="0"/>
                          <a:ea typeface="+mn-ea"/>
                          <a:cs typeface="Times New Roman" panose="02020603050405020304" pitchFamily="18" charset="0"/>
                        </a:rPr>
                        <a:t>Components Used</a:t>
                      </a:r>
                      <a:endParaRPr lang="en-US" sz="1400" b="1" kern="1200" dirty="0">
                        <a:solidFill>
                          <a:schemeClr val="tx1"/>
                        </a:solidFill>
                        <a:latin typeface="Times New Roman" panose="02020603050405020304" pitchFamily="18" charset="0"/>
                        <a:ea typeface="+mn-ea"/>
                        <a:cs typeface="Times New Roman" panose="02020603050405020304" pitchFamily="18" charset="0"/>
                      </a:endParaRPr>
                    </a:p>
                  </a:txBody>
                  <a:tcPr anchor="ctr">
                    <a:lnL>
                      <a:noFill/>
                    </a:lnL>
                    <a:lnR>
                      <a:noFill/>
                    </a:lnR>
                    <a:lnT>
                      <a:noFill/>
                    </a:lnT>
                    <a:lnB>
                      <a:noFill/>
                    </a:lnB>
                    <a:gradFill flip="none" rotWithShape="1">
                      <a:gsLst>
                        <a:gs pos="0">
                          <a:schemeClr val="accent6">
                            <a:lumMod val="5000"/>
                            <a:lumOff val="95000"/>
                          </a:schemeClr>
                        </a:gs>
                        <a:gs pos="100000">
                          <a:schemeClr val="accent6">
                            <a:lumMod val="45000"/>
                            <a:lumOff val="55000"/>
                          </a:schemeClr>
                        </a:gs>
                        <a:gs pos="99000">
                          <a:schemeClr val="accent6">
                            <a:lumMod val="45000"/>
                            <a:lumOff val="55000"/>
                          </a:schemeClr>
                        </a:gs>
                        <a:gs pos="100000">
                          <a:schemeClr val="accent6">
                            <a:lumMod val="30000"/>
                            <a:lumOff val="70000"/>
                          </a:schemeClr>
                        </a:gs>
                      </a:gsLst>
                      <a:lin ang="5400000" scaled="1"/>
                      <a:tileRect/>
                    </a:gradFill>
                  </a:tcPr>
                </a:tc>
                <a:tc>
                  <a:txBody>
                    <a:bodyPr/>
                    <a:lstStyle/>
                    <a:p>
                      <a:pPr marL="0" algn="ctr" defTabSz="457200" rtl="0" eaLnBrk="1" latinLnBrk="0" hangingPunct="1"/>
                      <a:r>
                        <a:rPr lang="en-US" sz="1400" b="1" kern="1200" dirty="0">
                          <a:solidFill>
                            <a:schemeClr val="tx1"/>
                          </a:solidFill>
                          <a:latin typeface="Times New Roman" panose="02020603050405020304" pitchFamily="18" charset="0"/>
                          <a:ea typeface="+mn-ea"/>
                          <a:cs typeface="Times New Roman" panose="02020603050405020304" pitchFamily="18" charset="0"/>
                        </a:rPr>
                        <a:t>Summary</a:t>
                      </a:r>
                      <a:endParaRPr lang="en-US" sz="1400" b="1" kern="1200" dirty="0">
                        <a:solidFill>
                          <a:schemeClr val="tx1"/>
                        </a:solidFill>
                        <a:latin typeface="Times New Roman" panose="02020603050405020304" pitchFamily="18" charset="0"/>
                        <a:ea typeface="+mn-ea"/>
                        <a:cs typeface="Times New Roman" panose="02020603050405020304" pitchFamily="18" charset="0"/>
                      </a:endParaRPr>
                    </a:p>
                  </a:txBody>
                  <a:tcPr anchor="ctr">
                    <a:lnL>
                      <a:noFill/>
                    </a:lnL>
                    <a:lnR>
                      <a:noFill/>
                    </a:lnR>
                    <a:lnT>
                      <a:noFill/>
                    </a:lnT>
                    <a:lnB>
                      <a:noFill/>
                    </a:lnB>
                    <a:gradFill flip="none" rotWithShape="1">
                      <a:gsLst>
                        <a:gs pos="0">
                          <a:schemeClr val="accent6">
                            <a:lumMod val="5000"/>
                            <a:lumOff val="95000"/>
                          </a:schemeClr>
                        </a:gs>
                        <a:gs pos="100000">
                          <a:schemeClr val="accent6">
                            <a:lumMod val="45000"/>
                            <a:lumOff val="55000"/>
                          </a:schemeClr>
                        </a:gs>
                        <a:gs pos="99000">
                          <a:schemeClr val="accent6">
                            <a:lumMod val="45000"/>
                            <a:lumOff val="55000"/>
                          </a:schemeClr>
                        </a:gs>
                        <a:gs pos="100000">
                          <a:schemeClr val="accent6">
                            <a:lumMod val="30000"/>
                            <a:lumOff val="70000"/>
                          </a:schemeClr>
                        </a:gs>
                      </a:gsLst>
                      <a:lin ang="5400000" scaled="1"/>
                      <a:tileRect/>
                    </a:gradFill>
                  </a:tcPr>
                </a:tc>
              </a:tr>
              <a:tr h="1198251">
                <a:tc>
                  <a:txBody>
                    <a:bodyPr/>
                    <a:lstStyle/>
                    <a:p>
                      <a:pPr marL="0" algn="ctr" defTabSz="457200" rtl="0" eaLnBrk="1" latinLnBrk="0" hangingPunct="1"/>
                      <a:r>
                        <a:rPr lang="en-US" sz="1400" b="1" kern="1200" dirty="0">
                          <a:solidFill>
                            <a:schemeClr val="tx1"/>
                          </a:solidFill>
                          <a:latin typeface="Times New Roman" panose="02020603050405020304" pitchFamily="18" charset="0"/>
                          <a:ea typeface="+mn-ea"/>
                          <a:cs typeface="Times New Roman" panose="02020603050405020304" pitchFamily="18" charset="0"/>
                        </a:rPr>
                        <a:t>2020</a:t>
                      </a:r>
                      <a:endParaRPr lang="en-US" sz="1400" b="1" kern="1200" dirty="0">
                        <a:solidFill>
                          <a:schemeClr val="tx1"/>
                        </a:solidFill>
                        <a:latin typeface="Times New Roman" panose="02020603050405020304" pitchFamily="18" charset="0"/>
                        <a:ea typeface="+mn-ea"/>
                        <a:cs typeface="Times New Roman" panose="02020603050405020304" pitchFamily="18" charset="0"/>
                      </a:endParaRPr>
                    </a:p>
                  </a:txBody>
                  <a:tcPr anchor="ctr">
                    <a:lnL>
                      <a:noFill/>
                    </a:lnL>
                    <a:lnR>
                      <a:noFill/>
                    </a:lnR>
                    <a:lnT>
                      <a:noFill/>
                    </a:lnT>
                    <a:lnB>
                      <a:noFill/>
                    </a:lnB>
                    <a:gradFill flip="none" rotWithShape="1">
                      <a:gsLst>
                        <a:gs pos="0">
                          <a:schemeClr val="accent6">
                            <a:lumMod val="5000"/>
                            <a:lumOff val="95000"/>
                          </a:schemeClr>
                        </a:gs>
                        <a:gs pos="100000">
                          <a:schemeClr val="accent6">
                            <a:lumMod val="45000"/>
                            <a:lumOff val="55000"/>
                          </a:schemeClr>
                        </a:gs>
                        <a:gs pos="99000">
                          <a:schemeClr val="accent6">
                            <a:lumMod val="45000"/>
                            <a:lumOff val="55000"/>
                          </a:schemeClr>
                        </a:gs>
                        <a:gs pos="100000">
                          <a:schemeClr val="accent6">
                            <a:lumMod val="30000"/>
                            <a:lumOff val="70000"/>
                          </a:schemeClr>
                        </a:gs>
                      </a:gsLst>
                      <a:lin ang="5400000" scaled="1"/>
                      <a:tileRect/>
                    </a:gradFill>
                  </a:tcPr>
                </a:tc>
                <a:tc>
                  <a:txBody>
                    <a:bodyPr/>
                    <a:lstStyle/>
                    <a:p>
                      <a:pPr marL="0" algn="l" defTabSz="457200" rtl="0" eaLnBrk="1" latinLnBrk="0" hangingPunct="1"/>
                      <a:r>
                        <a:rPr lang="en-US" sz="1400" b="0" kern="1200" dirty="0">
                          <a:solidFill>
                            <a:schemeClr val="tx1"/>
                          </a:solidFill>
                          <a:latin typeface="Times New Roman" panose="02020603050405020304" pitchFamily="18" charset="0"/>
                          <a:ea typeface="+mn-ea"/>
                          <a:cs typeface="Times New Roman" panose="02020603050405020304" pitchFamily="18" charset="0"/>
                        </a:rPr>
                        <a:t>LPG Gas Leakage Detector </a:t>
                      </a:r>
                      <a:endParaRPr lang="en-US" sz="1400" b="0" kern="1200" dirty="0">
                        <a:solidFill>
                          <a:schemeClr val="tx1"/>
                        </a:solidFill>
                        <a:latin typeface="Times New Roman" panose="02020603050405020304" pitchFamily="18" charset="0"/>
                        <a:ea typeface="+mn-ea"/>
                        <a:cs typeface="Times New Roman" panose="02020603050405020304" pitchFamily="18" charset="0"/>
                      </a:endParaRPr>
                    </a:p>
                  </a:txBody>
                  <a:tcPr anchor="ctr">
                    <a:lnL>
                      <a:noFill/>
                    </a:lnL>
                    <a:lnR>
                      <a:noFill/>
                    </a:lnR>
                    <a:lnT>
                      <a:noFill/>
                    </a:lnT>
                    <a:lnB>
                      <a:noFill/>
                    </a:lnB>
                    <a:gradFill flip="none" rotWithShape="1">
                      <a:gsLst>
                        <a:gs pos="0">
                          <a:schemeClr val="accent6">
                            <a:lumMod val="5000"/>
                            <a:lumOff val="95000"/>
                          </a:schemeClr>
                        </a:gs>
                        <a:gs pos="100000">
                          <a:schemeClr val="accent6">
                            <a:lumMod val="45000"/>
                            <a:lumOff val="55000"/>
                          </a:schemeClr>
                        </a:gs>
                        <a:gs pos="99000">
                          <a:schemeClr val="accent6">
                            <a:lumMod val="45000"/>
                            <a:lumOff val="55000"/>
                          </a:schemeClr>
                        </a:gs>
                        <a:gs pos="100000">
                          <a:schemeClr val="accent6">
                            <a:lumMod val="30000"/>
                            <a:lumOff val="70000"/>
                          </a:schemeClr>
                        </a:gs>
                      </a:gsLst>
                      <a:lin ang="5400000" scaled="1"/>
                      <a:tileRect/>
                    </a:gradFill>
                  </a:tcPr>
                </a:tc>
                <a:tc>
                  <a:txBody>
                    <a:bodyPr/>
                    <a:lstStyle/>
                    <a:p>
                      <a:pPr marL="0" algn="l" defTabSz="457200" rtl="0" eaLnBrk="1" latinLnBrk="0" hangingPunct="1"/>
                      <a:r>
                        <a:rPr lang="en-US" sz="1400" b="0" kern="1200" dirty="0">
                          <a:solidFill>
                            <a:schemeClr val="tx1"/>
                          </a:solidFill>
                          <a:latin typeface="Times New Roman" panose="02020603050405020304" pitchFamily="18" charset="0"/>
                          <a:ea typeface="+mn-ea"/>
                          <a:cs typeface="Times New Roman" panose="02020603050405020304" pitchFamily="18" charset="0"/>
                        </a:rPr>
                        <a:t>Flame Sensor , MQ-2 Sensor , Arduino UNO , Buzzer , LEDs, Solenoid Valve</a:t>
                      </a:r>
                      <a:endParaRPr lang="en-US" sz="1400" b="0" kern="1200" dirty="0">
                        <a:solidFill>
                          <a:schemeClr val="tx1"/>
                        </a:solidFill>
                        <a:latin typeface="Times New Roman" panose="02020603050405020304" pitchFamily="18" charset="0"/>
                        <a:ea typeface="+mn-ea"/>
                        <a:cs typeface="Times New Roman" panose="02020603050405020304" pitchFamily="18" charset="0"/>
                      </a:endParaRPr>
                    </a:p>
                  </a:txBody>
                  <a:tcPr anchor="ctr">
                    <a:lnL>
                      <a:noFill/>
                    </a:lnL>
                    <a:lnR>
                      <a:noFill/>
                    </a:lnR>
                    <a:lnT>
                      <a:noFill/>
                    </a:lnT>
                    <a:lnB>
                      <a:noFill/>
                    </a:lnB>
                    <a:gradFill flip="none" rotWithShape="1">
                      <a:gsLst>
                        <a:gs pos="0">
                          <a:schemeClr val="accent6">
                            <a:lumMod val="5000"/>
                            <a:lumOff val="95000"/>
                          </a:schemeClr>
                        </a:gs>
                        <a:gs pos="100000">
                          <a:schemeClr val="accent6">
                            <a:lumMod val="45000"/>
                            <a:lumOff val="55000"/>
                          </a:schemeClr>
                        </a:gs>
                        <a:gs pos="99000">
                          <a:schemeClr val="accent6">
                            <a:lumMod val="45000"/>
                            <a:lumOff val="55000"/>
                          </a:schemeClr>
                        </a:gs>
                        <a:gs pos="100000">
                          <a:schemeClr val="accent6">
                            <a:lumMod val="30000"/>
                            <a:lumOff val="70000"/>
                          </a:schemeClr>
                        </a:gs>
                      </a:gsLst>
                      <a:lin ang="5400000" scaled="1"/>
                      <a:tileRect/>
                    </a:gradFill>
                  </a:tcPr>
                </a:tc>
                <a:tc>
                  <a:txBody>
                    <a:bodyPr/>
                    <a:lstStyle/>
                    <a:p>
                      <a:pPr marL="0" algn="l" defTabSz="457200" rtl="0" eaLnBrk="1" latinLnBrk="0" hangingPunct="1"/>
                      <a:r>
                        <a:rPr lang="en-US" sz="1400" b="0" kern="1200" dirty="0">
                          <a:solidFill>
                            <a:schemeClr val="tx1"/>
                          </a:solidFill>
                          <a:latin typeface="Times New Roman" panose="02020603050405020304" pitchFamily="18" charset="0"/>
                          <a:ea typeface="+mn-ea"/>
                          <a:cs typeface="Times New Roman" panose="02020603050405020304" pitchFamily="18" charset="0"/>
                        </a:rPr>
                        <a:t>This system detects both LPG gas leaks and fire flames using MQ-2 and Flame Sensors with an Arduino UNO , when danger is identified , it triggers an alarm via buzzer and LED and automatically shuts OFF the gas using a Solenoid Valve.</a:t>
                      </a:r>
                      <a:endParaRPr lang="en-US" sz="1400" b="0" kern="1200" dirty="0">
                        <a:solidFill>
                          <a:schemeClr val="tx1"/>
                        </a:solidFill>
                        <a:latin typeface="Times New Roman" panose="02020603050405020304" pitchFamily="18" charset="0"/>
                        <a:ea typeface="+mn-ea"/>
                        <a:cs typeface="Times New Roman" panose="02020603050405020304" pitchFamily="18" charset="0"/>
                      </a:endParaRPr>
                    </a:p>
                  </a:txBody>
                  <a:tcPr anchor="ctr">
                    <a:lnL>
                      <a:noFill/>
                    </a:lnL>
                    <a:lnR>
                      <a:noFill/>
                    </a:lnR>
                    <a:lnT>
                      <a:noFill/>
                    </a:lnT>
                    <a:lnB>
                      <a:noFill/>
                    </a:lnB>
                    <a:gradFill flip="none" rotWithShape="1">
                      <a:gsLst>
                        <a:gs pos="0">
                          <a:schemeClr val="accent6">
                            <a:lumMod val="5000"/>
                            <a:lumOff val="95000"/>
                          </a:schemeClr>
                        </a:gs>
                        <a:gs pos="100000">
                          <a:schemeClr val="accent6">
                            <a:lumMod val="45000"/>
                            <a:lumOff val="55000"/>
                          </a:schemeClr>
                        </a:gs>
                        <a:gs pos="99000">
                          <a:schemeClr val="accent6">
                            <a:lumMod val="45000"/>
                            <a:lumOff val="55000"/>
                          </a:schemeClr>
                        </a:gs>
                        <a:gs pos="100000">
                          <a:schemeClr val="accent6">
                            <a:lumMod val="30000"/>
                            <a:lumOff val="70000"/>
                          </a:schemeClr>
                        </a:gs>
                      </a:gsLst>
                      <a:lin ang="5400000" scaled="1"/>
                      <a:tileRect/>
                    </a:gradFill>
                  </a:tcPr>
                </a:tc>
              </a:tr>
              <a:tr h="1444620">
                <a:tc>
                  <a:txBody>
                    <a:bodyPr/>
                    <a:lstStyle/>
                    <a:p>
                      <a:pPr marL="0" algn="ctr" defTabSz="457200" rtl="0" eaLnBrk="1" latinLnBrk="0" hangingPunct="1"/>
                      <a:r>
                        <a:rPr lang="en-US" sz="1400" b="1" kern="1200" dirty="0">
                          <a:solidFill>
                            <a:schemeClr val="tx1"/>
                          </a:solidFill>
                          <a:latin typeface="Times New Roman" panose="02020603050405020304" pitchFamily="18" charset="0"/>
                          <a:ea typeface="+mn-ea"/>
                          <a:cs typeface="Times New Roman" panose="02020603050405020304" pitchFamily="18" charset="0"/>
                        </a:rPr>
                        <a:t>2024</a:t>
                      </a:r>
                      <a:endParaRPr lang="en-US" sz="1400" b="1" kern="1200" dirty="0">
                        <a:solidFill>
                          <a:schemeClr val="tx1"/>
                        </a:solidFill>
                        <a:latin typeface="Times New Roman" panose="02020603050405020304" pitchFamily="18" charset="0"/>
                        <a:ea typeface="+mn-ea"/>
                        <a:cs typeface="Times New Roman" panose="02020603050405020304" pitchFamily="18" charset="0"/>
                      </a:endParaRPr>
                    </a:p>
                  </a:txBody>
                  <a:tcPr anchor="ctr">
                    <a:lnL>
                      <a:noFill/>
                    </a:lnL>
                    <a:lnR>
                      <a:noFill/>
                    </a:lnR>
                    <a:lnT>
                      <a:noFill/>
                    </a:lnT>
                    <a:lnB>
                      <a:noFill/>
                    </a:lnB>
                    <a:gradFill flip="none" rotWithShape="1">
                      <a:gsLst>
                        <a:gs pos="0">
                          <a:schemeClr val="accent6">
                            <a:lumMod val="5000"/>
                            <a:lumOff val="95000"/>
                          </a:schemeClr>
                        </a:gs>
                        <a:gs pos="100000">
                          <a:schemeClr val="accent6">
                            <a:lumMod val="45000"/>
                            <a:lumOff val="55000"/>
                          </a:schemeClr>
                        </a:gs>
                        <a:gs pos="99000">
                          <a:schemeClr val="accent6">
                            <a:lumMod val="45000"/>
                            <a:lumOff val="55000"/>
                          </a:schemeClr>
                        </a:gs>
                        <a:gs pos="100000">
                          <a:schemeClr val="accent6">
                            <a:lumMod val="30000"/>
                            <a:lumOff val="70000"/>
                          </a:schemeClr>
                        </a:gs>
                      </a:gsLst>
                      <a:lin ang="5400000" scaled="1"/>
                      <a:tileRect/>
                    </a:gradFill>
                  </a:tcPr>
                </a:tc>
                <a:tc>
                  <a:txBody>
                    <a:bodyPr/>
                    <a:lstStyle/>
                    <a:p>
                      <a:pPr marL="0" algn="l" defTabSz="457200" rtl="0" eaLnBrk="1" latinLnBrk="0" hangingPunct="1"/>
                      <a:r>
                        <a:rPr lang="en-US" sz="1400" b="0" kern="1200" dirty="0">
                          <a:solidFill>
                            <a:schemeClr val="tx1"/>
                          </a:solidFill>
                          <a:latin typeface="Times New Roman" panose="02020603050405020304" pitchFamily="18" charset="0"/>
                          <a:ea typeface="+mn-ea"/>
                          <a:cs typeface="Times New Roman" panose="02020603050405020304" pitchFamily="18" charset="0"/>
                        </a:rPr>
                        <a:t>LPG Gas Leakage Safety System </a:t>
                      </a:r>
                      <a:endParaRPr lang="en-US" sz="1400" b="0" kern="1200" dirty="0">
                        <a:solidFill>
                          <a:schemeClr val="tx1"/>
                        </a:solidFill>
                        <a:latin typeface="Times New Roman" panose="02020603050405020304" pitchFamily="18" charset="0"/>
                        <a:ea typeface="+mn-ea"/>
                        <a:cs typeface="Times New Roman" panose="02020603050405020304" pitchFamily="18" charset="0"/>
                      </a:endParaRPr>
                    </a:p>
                  </a:txBody>
                  <a:tcPr anchor="ctr">
                    <a:lnL>
                      <a:noFill/>
                    </a:lnL>
                    <a:lnR>
                      <a:noFill/>
                    </a:lnR>
                    <a:lnT>
                      <a:noFill/>
                    </a:lnT>
                    <a:lnB>
                      <a:noFill/>
                    </a:lnB>
                    <a:gradFill flip="none" rotWithShape="1">
                      <a:gsLst>
                        <a:gs pos="0">
                          <a:schemeClr val="accent6">
                            <a:lumMod val="5000"/>
                            <a:lumOff val="95000"/>
                          </a:schemeClr>
                        </a:gs>
                        <a:gs pos="100000">
                          <a:schemeClr val="accent6">
                            <a:lumMod val="45000"/>
                            <a:lumOff val="55000"/>
                          </a:schemeClr>
                        </a:gs>
                        <a:gs pos="99000">
                          <a:schemeClr val="accent6">
                            <a:lumMod val="45000"/>
                            <a:lumOff val="55000"/>
                          </a:schemeClr>
                        </a:gs>
                        <a:gs pos="100000">
                          <a:schemeClr val="accent6">
                            <a:lumMod val="30000"/>
                            <a:lumOff val="70000"/>
                          </a:schemeClr>
                        </a:gs>
                      </a:gsLst>
                      <a:lin ang="5400000" scaled="1"/>
                      <a:tileRect/>
                    </a:gradFill>
                  </a:tcPr>
                </a:tc>
                <a:tc>
                  <a:txBody>
                    <a:bodyPr/>
                    <a:lstStyle/>
                    <a:p>
                      <a:pPr marL="0" algn="l" defTabSz="457200" rtl="0" eaLnBrk="1" latinLnBrk="0" hangingPunct="1"/>
                      <a:r>
                        <a:rPr lang="en-US" sz="1400" b="0" kern="1200" dirty="0">
                          <a:solidFill>
                            <a:schemeClr val="tx1"/>
                          </a:solidFill>
                          <a:latin typeface="Times New Roman" panose="02020603050405020304" pitchFamily="18" charset="0"/>
                          <a:ea typeface="+mn-ea"/>
                          <a:cs typeface="Times New Roman" panose="02020603050405020304" pitchFamily="18" charset="0"/>
                        </a:rPr>
                        <a:t>MQ-2, MQ-6 Sensors , Servo Motor, Buzzer </a:t>
                      </a:r>
                      <a:endParaRPr lang="en-US" sz="1400" b="0" kern="1200" dirty="0">
                        <a:solidFill>
                          <a:schemeClr val="tx1"/>
                        </a:solidFill>
                        <a:latin typeface="Times New Roman" panose="02020603050405020304" pitchFamily="18" charset="0"/>
                        <a:ea typeface="+mn-ea"/>
                        <a:cs typeface="Times New Roman" panose="02020603050405020304" pitchFamily="18" charset="0"/>
                      </a:endParaRPr>
                    </a:p>
                  </a:txBody>
                  <a:tcPr anchor="ctr">
                    <a:lnL>
                      <a:noFill/>
                    </a:lnL>
                    <a:lnR>
                      <a:noFill/>
                    </a:lnR>
                    <a:lnT>
                      <a:noFill/>
                    </a:lnT>
                    <a:lnB>
                      <a:noFill/>
                    </a:lnB>
                    <a:gradFill flip="none" rotWithShape="1">
                      <a:gsLst>
                        <a:gs pos="0">
                          <a:schemeClr val="accent6">
                            <a:lumMod val="5000"/>
                            <a:lumOff val="95000"/>
                          </a:schemeClr>
                        </a:gs>
                        <a:gs pos="100000">
                          <a:schemeClr val="accent6">
                            <a:lumMod val="45000"/>
                            <a:lumOff val="55000"/>
                          </a:schemeClr>
                        </a:gs>
                        <a:gs pos="99000">
                          <a:schemeClr val="accent6">
                            <a:lumMod val="45000"/>
                            <a:lumOff val="55000"/>
                          </a:schemeClr>
                        </a:gs>
                        <a:gs pos="100000">
                          <a:schemeClr val="accent6">
                            <a:lumMod val="30000"/>
                            <a:lumOff val="70000"/>
                          </a:schemeClr>
                        </a:gs>
                      </a:gsLst>
                      <a:lin ang="5400000" scaled="1"/>
                      <a:tileRect/>
                    </a:gradFill>
                  </a:tcPr>
                </a:tc>
                <a:tc>
                  <a:txBody>
                    <a:bodyPr/>
                    <a:lstStyle/>
                    <a:p>
                      <a:pPr marL="0" algn="l" defTabSz="457200" rtl="0" eaLnBrk="1" latinLnBrk="0" hangingPunct="1"/>
                      <a:r>
                        <a:rPr lang="en-US" sz="1400" b="0" kern="1200" dirty="0">
                          <a:solidFill>
                            <a:schemeClr val="tx1"/>
                          </a:solidFill>
                          <a:latin typeface="Times New Roman" panose="02020603050405020304" pitchFamily="18" charset="0"/>
                          <a:ea typeface="+mn-ea"/>
                          <a:cs typeface="Times New Roman" panose="02020603050405020304" pitchFamily="18" charset="0"/>
                        </a:rPr>
                        <a:t>This IOT Enhanced design uses MQ-2 and MQ-6 Sensors for LPG leak detection and deploys a Servo Motor to automatically turn OFF the gas regular based on Blynk app readings and local Buzzer alerts.</a:t>
                      </a:r>
                      <a:endParaRPr lang="en-US" sz="1400" b="0" kern="1200" dirty="0">
                        <a:solidFill>
                          <a:schemeClr val="tx1"/>
                        </a:solidFill>
                        <a:latin typeface="Times New Roman" panose="02020603050405020304" pitchFamily="18" charset="0"/>
                        <a:ea typeface="+mn-ea"/>
                        <a:cs typeface="Times New Roman" panose="02020603050405020304" pitchFamily="18" charset="0"/>
                      </a:endParaRPr>
                    </a:p>
                  </a:txBody>
                  <a:tcPr anchor="ctr">
                    <a:lnL>
                      <a:noFill/>
                    </a:lnL>
                    <a:lnR>
                      <a:noFill/>
                    </a:lnR>
                    <a:lnT>
                      <a:noFill/>
                    </a:lnT>
                    <a:lnB>
                      <a:noFill/>
                    </a:lnB>
                    <a:gradFill flip="none" rotWithShape="1">
                      <a:gsLst>
                        <a:gs pos="0">
                          <a:schemeClr val="accent6">
                            <a:lumMod val="5000"/>
                            <a:lumOff val="95000"/>
                          </a:schemeClr>
                        </a:gs>
                        <a:gs pos="100000">
                          <a:schemeClr val="accent6">
                            <a:lumMod val="45000"/>
                            <a:lumOff val="55000"/>
                          </a:schemeClr>
                        </a:gs>
                        <a:gs pos="99000">
                          <a:schemeClr val="accent6">
                            <a:lumMod val="45000"/>
                            <a:lumOff val="55000"/>
                          </a:schemeClr>
                        </a:gs>
                        <a:gs pos="100000">
                          <a:schemeClr val="accent6">
                            <a:lumMod val="30000"/>
                            <a:lumOff val="70000"/>
                          </a:schemeClr>
                        </a:gs>
                      </a:gsLst>
                      <a:lin ang="5400000" scaled="1"/>
                      <a:tileRect/>
                    </a:gradFill>
                  </a:tcPr>
                </a:tc>
              </a:tr>
              <a:tr h="1375451">
                <a:tc>
                  <a:txBody>
                    <a:bodyPr/>
                    <a:lstStyle/>
                    <a:p>
                      <a:pPr marL="0" algn="ctr" defTabSz="457200" rtl="0" eaLnBrk="1" latinLnBrk="0" hangingPunct="1"/>
                      <a:r>
                        <a:rPr lang="en-US" sz="1400" b="1" kern="1200" dirty="0">
                          <a:solidFill>
                            <a:schemeClr val="tx1"/>
                          </a:solidFill>
                          <a:latin typeface="Times New Roman" panose="02020603050405020304" pitchFamily="18" charset="0"/>
                          <a:ea typeface="+mn-ea"/>
                          <a:cs typeface="Times New Roman" panose="02020603050405020304" pitchFamily="18" charset="0"/>
                        </a:rPr>
                        <a:t>2023</a:t>
                      </a:r>
                      <a:endParaRPr lang="en-US" sz="1400" b="1" kern="1200" dirty="0">
                        <a:solidFill>
                          <a:schemeClr val="tx1"/>
                        </a:solidFill>
                        <a:latin typeface="Times New Roman" panose="02020603050405020304" pitchFamily="18" charset="0"/>
                        <a:ea typeface="+mn-ea"/>
                        <a:cs typeface="Times New Roman" panose="02020603050405020304" pitchFamily="18" charset="0"/>
                      </a:endParaRPr>
                    </a:p>
                  </a:txBody>
                  <a:tcPr anchor="ctr">
                    <a:lnL>
                      <a:noFill/>
                    </a:lnL>
                    <a:lnR>
                      <a:noFill/>
                    </a:lnR>
                    <a:lnT>
                      <a:noFill/>
                    </a:lnT>
                    <a:lnB>
                      <a:noFill/>
                    </a:lnB>
                    <a:gradFill flip="none" rotWithShape="1">
                      <a:gsLst>
                        <a:gs pos="0">
                          <a:schemeClr val="accent6">
                            <a:lumMod val="5000"/>
                            <a:lumOff val="95000"/>
                          </a:schemeClr>
                        </a:gs>
                        <a:gs pos="100000">
                          <a:schemeClr val="accent6">
                            <a:lumMod val="45000"/>
                            <a:lumOff val="55000"/>
                          </a:schemeClr>
                        </a:gs>
                        <a:gs pos="99000">
                          <a:schemeClr val="accent6">
                            <a:lumMod val="45000"/>
                            <a:lumOff val="55000"/>
                          </a:schemeClr>
                        </a:gs>
                        <a:gs pos="100000">
                          <a:schemeClr val="accent6">
                            <a:lumMod val="30000"/>
                            <a:lumOff val="70000"/>
                          </a:schemeClr>
                        </a:gs>
                      </a:gsLst>
                      <a:lin ang="5400000" scaled="1"/>
                      <a:tileRect/>
                    </a:gradFill>
                  </a:tcPr>
                </a:tc>
                <a:tc>
                  <a:txBody>
                    <a:bodyPr/>
                    <a:lstStyle/>
                    <a:p>
                      <a:pPr marL="0" algn="l" defTabSz="457200" rtl="0" eaLnBrk="1" latinLnBrk="0" hangingPunct="1"/>
                      <a:r>
                        <a:rPr lang="en-US" sz="1400" b="0" kern="1200" dirty="0">
                          <a:solidFill>
                            <a:schemeClr val="tx1"/>
                          </a:solidFill>
                          <a:latin typeface="Times New Roman" panose="02020603050405020304" pitchFamily="18" charset="0"/>
                          <a:ea typeface="+mn-ea"/>
                          <a:cs typeface="Times New Roman" panose="02020603050405020304" pitchFamily="18" charset="0"/>
                        </a:rPr>
                        <a:t>LPG Leakage Detection Device </a:t>
                      </a:r>
                      <a:endParaRPr lang="en-US" sz="1400" b="0" kern="1200" dirty="0">
                        <a:solidFill>
                          <a:schemeClr val="tx1"/>
                        </a:solidFill>
                        <a:latin typeface="Times New Roman" panose="02020603050405020304" pitchFamily="18" charset="0"/>
                        <a:ea typeface="+mn-ea"/>
                        <a:cs typeface="Times New Roman" panose="02020603050405020304" pitchFamily="18" charset="0"/>
                      </a:endParaRPr>
                    </a:p>
                  </a:txBody>
                  <a:tcPr anchor="ctr">
                    <a:lnL>
                      <a:noFill/>
                    </a:lnL>
                    <a:lnR>
                      <a:noFill/>
                    </a:lnR>
                    <a:lnT>
                      <a:noFill/>
                    </a:lnT>
                    <a:lnB>
                      <a:noFill/>
                    </a:lnB>
                    <a:gradFill flip="none" rotWithShape="1">
                      <a:gsLst>
                        <a:gs pos="0">
                          <a:schemeClr val="accent6">
                            <a:lumMod val="5000"/>
                            <a:lumOff val="95000"/>
                          </a:schemeClr>
                        </a:gs>
                        <a:gs pos="100000">
                          <a:schemeClr val="accent6">
                            <a:lumMod val="45000"/>
                            <a:lumOff val="55000"/>
                          </a:schemeClr>
                        </a:gs>
                        <a:gs pos="99000">
                          <a:schemeClr val="accent6">
                            <a:lumMod val="45000"/>
                            <a:lumOff val="55000"/>
                          </a:schemeClr>
                        </a:gs>
                        <a:gs pos="100000">
                          <a:schemeClr val="accent6">
                            <a:lumMod val="30000"/>
                            <a:lumOff val="70000"/>
                          </a:schemeClr>
                        </a:gs>
                      </a:gsLst>
                      <a:lin ang="5400000" scaled="1"/>
                      <a:tileRect/>
                    </a:gradFill>
                  </a:tcPr>
                </a:tc>
                <a:tc>
                  <a:txBody>
                    <a:bodyPr/>
                    <a:lstStyle/>
                    <a:p>
                      <a:pPr marL="0" algn="l" defTabSz="457200" rtl="0" eaLnBrk="1" latinLnBrk="0" hangingPunct="1"/>
                      <a:r>
                        <a:rPr lang="en-US" sz="1400" b="0" kern="1200" dirty="0">
                          <a:solidFill>
                            <a:schemeClr val="tx1"/>
                          </a:solidFill>
                          <a:latin typeface="Times New Roman" panose="02020603050405020304" pitchFamily="18" charset="0"/>
                          <a:ea typeface="+mn-ea"/>
                          <a:cs typeface="Times New Roman" panose="02020603050405020304" pitchFamily="18" charset="0"/>
                        </a:rPr>
                        <a:t>MQ-2 Sensor, Buzzer , LED</a:t>
                      </a:r>
                      <a:endParaRPr lang="en-US" sz="1400" b="0" kern="1200" dirty="0">
                        <a:solidFill>
                          <a:schemeClr val="tx1"/>
                        </a:solidFill>
                        <a:latin typeface="Times New Roman" panose="02020603050405020304" pitchFamily="18" charset="0"/>
                        <a:ea typeface="+mn-ea"/>
                        <a:cs typeface="Times New Roman" panose="02020603050405020304" pitchFamily="18" charset="0"/>
                      </a:endParaRPr>
                    </a:p>
                  </a:txBody>
                  <a:tcPr anchor="ctr">
                    <a:lnL>
                      <a:noFill/>
                    </a:lnL>
                    <a:lnR>
                      <a:noFill/>
                    </a:lnR>
                    <a:lnT>
                      <a:noFill/>
                    </a:lnT>
                    <a:lnB>
                      <a:noFill/>
                    </a:lnB>
                    <a:gradFill flip="none" rotWithShape="1">
                      <a:gsLst>
                        <a:gs pos="0">
                          <a:schemeClr val="accent6">
                            <a:lumMod val="5000"/>
                            <a:lumOff val="95000"/>
                          </a:schemeClr>
                        </a:gs>
                        <a:gs pos="100000">
                          <a:schemeClr val="accent6">
                            <a:lumMod val="45000"/>
                            <a:lumOff val="55000"/>
                          </a:schemeClr>
                        </a:gs>
                        <a:gs pos="99000">
                          <a:schemeClr val="accent6">
                            <a:lumMod val="45000"/>
                            <a:lumOff val="55000"/>
                          </a:schemeClr>
                        </a:gs>
                        <a:gs pos="100000">
                          <a:schemeClr val="accent6">
                            <a:lumMod val="30000"/>
                            <a:lumOff val="70000"/>
                          </a:schemeClr>
                        </a:gs>
                      </a:gsLst>
                      <a:lin ang="5400000" scaled="1"/>
                      <a:tileRect/>
                    </a:gradFill>
                  </a:tcPr>
                </a:tc>
                <a:tc>
                  <a:txBody>
                    <a:bodyPr/>
                    <a:lstStyle/>
                    <a:p>
                      <a:pPr marL="0" algn="l" defTabSz="457200" rtl="0" eaLnBrk="1" latinLnBrk="0" hangingPunct="1"/>
                      <a:r>
                        <a:rPr lang="en-US" sz="1400" b="0" kern="1200" dirty="0">
                          <a:solidFill>
                            <a:schemeClr val="tx1"/>
                          </a:solidFill>
                          <a:latin typeface="Times New Roman" panose="02020603050405020304" pitchFamily="18" charset="0"/>
                          <a:ea typeface="+mn-ea"/>
                          <a:cs typeface="Times New Roman" panose="02020603050405020304" pitchFamily="18" charset="0"/>
                        </a:rPr>
                        <a:t>The paper addresses the dangers of LPG leaks in household environments , an important concern due to LPG’s  flammable nature and risk of explosion. The authors aimed to design a simple, effective alert system named “T or-G” to detect leaks and warn users quickly using a microcontroller based setup.</a:t>
                      </a:r>
                      <a:endParaRPr lang="en-US" sz="1400" b="0" kern="1200" dirty="0">
                        <a:solidFill>
                          <a:schemeClr val="tx1"/>
                        </a:solidFill>
                        <a:latin typeface="Times New Roman" panose="02020603050405020304" pitchFamily="18" charset="0"/>
                        <a:ea typeface="+mn-ea"/>
                        <a:cs typeface="Times New Roman" panose="02020603050405020304" pitchFamily="18" charset="0"/>
                      </a:endParaRPr>
                    </a:p>
                  </a:txBody>
                  <a:tcPr anchor="ctr">
                    <a:lnL>
                      <a:noFill/>
                    </a:lnL>
                    <a:lnR>
                      <a:noFill/>
                    </a:lnR>
                    <a:lnT>
                      <a:noFill/>
                    </a:lnT>
                    <a:lnB>
                      <a:noFill/>
                    </a:lnB>
                    <a:gradFill flip="none" rotWithShape="1">
                      <a:gsLst>
                        <a:gs pos="0">
                          <a:schemeClr val="accent6">
                            <a:lumMod val="5000"/>
                            <a:lumOff val="95000"/>
                          </a:schemeClr>
                        </a:gs>
                        <a:gs pos="100000">
                          <a:schemeClr val="accent6">
                            <a:lumMod val="45000"/>
                            <a:lumOff val="55000"/>
                          </a:schemeClr>
                        </a:gs>
                        <a:gs pos="99000">
                          <a:schemeClr val="accent6">
                            <a:lumMod val="45000"/>
                            <a:lumOff val="55000"/>
                          </a:schemeClr>
                        </a:gs>
                        <a:gs pos="100000">
                          <a:schemeClr val="accent6">
                            <a:lumMod val="30000"/>
                            <a:lumOff val="70000"/>
                          </a:schemeClr>
                        </a:gs>
                      </a:gsLst>
                      <a:lin ang="5400000" scaled="1"/>
                      <a:tileRect/>
                    </a:gra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a:solidFill>
                  <a:srgbClr val="002060"/>
                </a:solidFill>
                <a:latin typeface="Century Schoolbook" panose="02040604050505020304" pitchFamily="18" charset="0"/>
                <a:cs typeface="Times New Roman" panose="02020603050405020304" pitchFamily="18" charset="0"/>
              </a:rPr>
              <a:t>Block diagram of Project</a:t>
            </a:r>
            <a:br>
              <a:rPr lang="en-US" b="1" dirty="0">
                <a:solidFill>
                  <a:srgbClr val="002060"/>
                </a:solidFill>
                <a:latin typeface="Times New Roman" panose="02020603050405020304" pitchFamily="18" charset="0"/>
                <a:cs typeface="Times New Roman" panose="02020603050405020304" pitchFamily="18" charset="0"/>
              </a:rPr>
            </a:br>
            <a:endParaRPr lang="en-IN" dirty="0"/>
          </a:p>
        </p:txBody>
      </p:sp>
      <p:pic>
        <p:nvPicPr>
          <p:cNvPr id="4" name="Content Placeholder 3" descr="Screenshot 2025-08-22 004405"/>
          <p:cNvPicPr>
            <a:picLocks noChangeAspect="1"/>
          </p:cNvPicPr>
          <p:nvPr>
            <p:ph idx="1"/>
          </p:nvPr>
        </p:nvPicPr>
        <p:blipFill>
          <a:blip r:embed="rId1"/>
          <a:stretch>
            <a:fillRect/>
          </a:stretch>
        </p:blipFill>
        <p:spPr>
          <a:xfrm>
            <a:off x="2592705" y="1480185"/>
            <a:ext cx="7764780" cy="45516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Century Schoolbook" panose="02040604050505020304" pitchFamily="18" charset="0"/>
                <a:cs typeface="Times New Roman" panose="02020603050405020304" pitchFamily="18" charset="0"/>
              </a:rPr>
              <a:t>Circuit diagram of Project</a:t>
            </a:r>
            <a:br>
              <a:rPr lang="en-US" b="1" dirty="0">
                <a:solidFill>
                  <a:srgbClr val="002060"/>
                </a:solidFill>
                <a:latin typeface="Times New Roman" panose="02020603050405020304" pitchFamily="18" charset="0"/>
                <a:cs typeface="Times New Roman" panose="02020603050405020304" pitchFamily="18" charset="0"/>
              </a:rPr>
            </a:br>
            <a:endParaRPr lang="en-IN" dirty="0"/>
          </a:p>
        </p:txBody>
      </p:sp>
      <p:pic>
        <p:nvPicPr>
          <p:cNvPr id="4" name="Content Placeholder 3" descr="circuit disgram"/>
          <p:cNvPicPr>
            <a:picLocks noChangeAspect="1"/>
          </p:cNvPicPr>
          <p:nvPr>
            <p:ph idx="1"/>
          </p:nvPr>
        </p:nvPicPr>
        <p:blipFill>
          <a:blip r:embed="rId1"/>
          <a:stretch>
            <a:fillRect/>
          </a:stretch>
        </p:blipFill>
        <p:spPr>
          <a:xfrm>
            <a:off x="2451735" y="1668145"/>
            <a:ext cx="6954520" cy="46348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Times New Roman" panose="02020603050405020304" pitchFamily="18" charset="0"/>
                <a:cs typeface="Times New Roman" panose="02020603050405020304" pitchFamily="18" charset="0"/>
              </a:rPr>
              <a:t> </a:t>
            </a:r>
            <a:r>
              <a:rPr lang="en-US" b="1" dirty="0">
                <a:solidFill>
                  <a:srgbClr val="002060"/>
                </a:solidFill>
                <a:latin typeface="Century Schoolbook" panose="02040604050505020304" pitchFamily="18" charset="0"/>
                <a:cs typeface="Times New Roman" panose="02020603050405020304" pitchFamily="18" charset="0"/>
              </a:rPr>
              <a:t>Simulation of Project</a:t>
            </a:r>
            <a:br>
              <a:rPr lang="en-US" b="1" dirty="0">
                <a:solidFill>
                  <a:srgbClr val="002060"/>
                </a:solidFill>
                <a:latin typeface="Times New Roman" panose="02020603050405020304" pitchFamily="18" charset="0"/>
                <a:cs typeface="Times New Roman" panose="02020603050405020304" pitchFamily="18" charset="0"/>
              </a:rPr>
            </a:br>
            <a:endParaRPr lang="en-IN" dirty="0"/>
          </a:p>
        </p:txBody>
      </p:sp>
      <p:pic>
        <p:nvPicPr>
          <p:cNvPr id="5" name="Content Placeholder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386348" y="1238865"/>
            <a:ext cx="10569678" cy="5619135"/>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latin typeface="Century Schoolbook" panose="02040604050505020304" pitchFamily="18" charset="0"/>
              </a:rPr>
              <a:t>Conclusion</a:t>
            </a:r>
            <a:endParaRPr lang="en-IN" sz="4400" dirty="0">
              <a:latin typeface="Century Schoolbook" panose="02040604050505020304" pitchFamily="18" charset="0"/>
            </a:endParaRPr>
          </a:p>
        </p:txBody>
      </p:sp>
      <p:sp>
        <p:nvSpPr>
          <p:cNvPr id="3" name="Content Placeholder 2"/>
          <p:cNvSpPr>
            <a:spLocks noGrp="1"/>
          </p:cNvSpPr>
          <p:nvPr>
            <p:ph idx="1"/>
          </p:nvPr>
        </p:nvSpPr>
        <p:spPr>
          <a:xfrm>
            <a:off x="1937067" y="1765300"/>
            <a:ext cx="8915400" cy="3777622"/>
          </a:xfrm>
        </p:spPr>
        <p:txBody>
          <a:bodyPr>
            <a:normAutofit lnSpcReduction="20000"/>
          </a:bodyPr>
          <a:lstStyle/>
          <a:p>
            <a:r>
              <a:rPr lang="en-US" altLang="en-US"/>
              <a:t>The highlight of this system is its fully automatic operation, requiring no human intervention at the time of emergency, thereby minimizing the risk of accidents, property loss, and saving human lives.</a:t>
            </a:r>
            <a:endParaRPr lang="en-US" altLang="en-US"/>
          </a:p>
          <a:p>
            <a:endParaRPr lang="en-US" altLang="en-US"/>
          </a:p>
          <a:p>
            <a:r>
              <a:rPr lang="en-US" altLang="en-US"/>
              <a:t>This project proves that with low-cost components and simple automation, we can build a highly reliable and practical domestic and industrial safety solution. It not only enhances safety but also sets the foundation for future upgrades such as GSM-based SMS alerts, IoT integration for mobile monitoring, and AI-based early warning systems.</a:t>
            </a:r>
            <a:endParaRPr lang="en-US" altLang="en-US"/>
          </a:p>
          <a:p>
            <a:endParaRPr lang="en-US" altLang="en-US"/>
          </a:p>
          <a:p>
            <a:r>
              <a:rPr lang="en-US" altLang="en-US"/>
              <a:t>Hence, the project achieves its objective of combining safety, automation, and innovation, making it a valuable step toward smart home and industrial safety applications.</a:t>
            </a:r>
            <a:endParaRPr lang="en-US" altLang="en-US"/>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4349</Words>
  <Application>WPS Presentation</Application>
  <PresentationFormat>Widescreen</PresentationFormat>
  <Paragraphs>131</Paragraphs>
  <Slides>11</Slides>
  <Notes>1</Notes>
  <HiddenSlides>0</HiddenSlides>
  <MMClips>0</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11</vt:i4>
      </vt:variant>
    </vt:vector>
  </HeadingPairs>
  <TitlesOfParts>
    <vt:vector size="29" baseType="lpstr">
      <vt:lpstr>Arial</vt:lpstr>
      <vt:lpstr>SimSun</vt:lpstr>
      <vt:lpstr>Wingdings</vt:lpstr>
      <vt:lpstr>Wingdings 3</vt:lpstr>
      <vt:lpstr>Arial</vt:lpstr>
      <vt:lpstr>Times New Roman</vt:lpstr>
      <vt:lpstr>Calibri</vt:lpstr>
      <vt:lpstr>Mangal</vt:lpstr>
      <vt:lpstr>Segoe Print</vt:lpstr>
      <vt:lpstr>Century Schoolbook</vt:lpstr>
      <vt:lpstr>Century</vt:lpstr>
      <vt:lpstr>Microsoft YaHei</vt:lpstr>
      <vt:lpstr>Arial Unicode MS</vt:lpstr>
      <vt:lpstr>Trebuchet MS</vt:lpstr>
      <vt:lpstr>Century Gothic</vt:lpstr>
      <vt:lpstr>Wingdings</vt:lpstr>
      <vt:lpstr>Wisp</vt:lpstr>
      <vt:lpstr>Facet</vt:lpstr>
      <vt:lpstr>“SMART LPG, SMOKE AND FIRE DETECTION SYSTEM WITH AUTOMATED SAFETY RESPONSE”</vt:lpstr>
      <vt:lpstr>Objective of Project</vt:lpstr>
      <vt:lpstr>Components</vt:lpstr>
      <vt:lpstr>PowerPoint 演示文稿</vt:lpstr>
      <vt:lpstr>PowerPoint 演示文稿</vt:lpstr>
      <vt:lpstr>PowerPoint 演示文稿</vt:lpstr>
      <vt:lpstr>Literature Survey</vt:lpstr>
      <vt:lpstr>Block diagram of Project </vt:lpstr>
      <vt:lpstr>Circuit diagram of Project </vt:lpstr>
      <vt:lpstr> Simulation of Project </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Continuous Comprehensive Evaluation (CCE) –  Project Based Learning</dc:title>
  <dc:creator>Sayali Mane</dc:creator>
  <cp:lastModifiedBy>Mohan Jadhav.</cp:lastModifiedBy>
  <cp:revision>52</cp:revision>
  <dcterms:created xsi:type="dcterms:W3CDTF">2025-07-03T08:34:00Z</dcterms:created>
  <dcterms:modified xsi:type="dcterms:W3CDTF">2025-08-22T08:10:38Z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97705E0A0BE543D890E04B3CA93FD54A_13</vt:lpwstr>
  </property>
  <property fmtid="{D5CDD505-2E9C-101B-9397-08002B2CF9AE}" pid="3" name="KSOProductBuildVer">
    <vt:lpwstr>1033-12.2.0.21931</vt:lpwstr>
  </property>
</Properties>
</file>